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20a9af9-faaf-2e42-ffe2-192ccca950a2}">
          <p14:sldIdLst>
            <p14:sldId id="256"/>
            <p14:sldId id="257"/>
          </p14:sldIdLst>
        </p14:section>
        <p14:section name="I · The Revelation" id="{bfdc17a0-2d3d-ac6c-9fa3-a3b000cdc316}">
          <p14:sldIdLst>
            <p14:sldId id="258"/>
            <p14:sldId id="259"/>
          </p14:sldIdLst>
        </p14:section>
        <p14:section name="II · Why" id="{c4a05dfa-e4c2-4eea-84ac-de3ac5d701c6}">
          <p14:sldIdLst>
            <p14:sldId id="260"/>
            <p14:sldId id="261"/>
            <p14:sldId id="262"/>
          </p14:sldIdLst>
        </p14:section>
        <p14:section name="III · We've Been Here Before" id="{fc680a85-7d0b-e7d7-9920-3b36df977d48}">
          <p14:sldIdLst>
            <p14:sldId id="263"/>
            <p14:sldId id="264"/>
            <p14:sldId id="265"/>
          </p14:sldIdLst>
        </p14:section>
        <p14:section name="IV · The Possibility" id="{e692886a-1ae1-deff-b5c0-6e11aff98eee}">
          <p14:sldIdLst>
            <p14:sldId id="266"/>
            <p14:sldId id="267"/>
          </p14:sldIdLst>
        </p14:section>
        <p14:section name="V · The Choice" id="{113f0336-ac32-119f-0d14-ffdd1df8b05c}">
          <p14:sldIdLst>
            <p14:sldId id="268"/>
            <p14:sldId id="269"/>
          </p14:sldIdLst>
        </p14:section>
        <p14:section name="VI · Closing" id="{361cce3a-2d44-742a-4539-835e052dae18}">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scene everyone knows: Luke on the gantry, Vader's revelation.
Core thesis: We confuse what we do with who we are. AI is changing HOW we engineer software, but not necessarily WHY we became engineers.
Arc for tonight: identity disruption → reflection → historical perspective → expanded possibility → agency and adaptation.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talk in one sentence. Our job titles, our tools, our languages — they become part of how we see ourselves.
When the tools shift underneath us, it can feel like WE are being shifted. Tonight is about separating the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Luke discovers something that fundamentally challenges his identity: the villain is his father.
His first response is disbelief, rejection, fear — he'd rather fall than accept it.
AI presents engineers with a similar challenge to professional identity. If a model can write the code, what does that make me?
Pause here. Let people recognize their own first reaction.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Moved My Cheese: two mice (Sniff and Scurry) and two little people (Hem and Haw) respond to the cheese disappearing.
Sniff sniffs out change early. Scurry hustles into action. Hem denies and digs in. Haw is scared, then eventually adapts.
Different people react to fundamental change differently — and every one of those reactions is understandable. Most of us have been Hem at some point this year.
Don't shame anyone in the room for where they are on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audience: close your eyes for five seconds. What first excited you about this? The first program that ran? The first thing someone else used?
Maybe ask two or three people to shout out answers. You'll hear building, figuring things out, and helping people — which sets up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identity comes in. Addy Osmani, who works on Claude Code at Anthropic, posted this on Oct 9, 2026: whether agents feel like liberation or loss depends on which joy of engineering you lean on most.
Some engineers say they've never had more fun: they feel like they're in an all-star lineup. Others mourn the death of their craft and feel hollow. Both are telling the truth.
His point: the 'love coding vs. love shipping' split is too simple. We're mourning different losses and arguing from different places.
And the sadness isn't a failure to adapt. In his words, grief means you're attached to something. That attachment is your identity talking — so let's look at what it's attached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Addy Osmani's three sources of joy, which most of us interweave:
• Making (flow): molding something in your hands and feeling it click into place.
• Knowing: a mental model of your system so strong you can sense where the bug is just by glancing at the files.
• Mattering: knowing you're the expert it all relied on.
Ask: which one is yours? Hands up for making… knowing… mattering. Most of us lean on one — and that predicts how AI feels to you.
Agents touch each joy differently. We'll come back to each one in Parts IV and V.
Source: x.com/addyosmani/status/2108444852820066711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Machine code → assembly → high-level languages → frameworks → cloud → AI agents.
ENIAC's programmers wired programs by hand. Margaret Hamilton's team wrote Apollo's guidance software in assembly. Grace Hopper was told computers could only do arithmetic — then built the compiler.
Each abstraction changed what engineers needed to understand and personally execute. Each one expanded what an engineer could accomplish.
And at every step, someone felt their mastery had just been made obsolete.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Margaret Hamilton standing next to the printed Apollo guidance code. That stack WAS mastery in 1969.
Nobody today hand-writes that much assembly — but we didn't stop being masters. Mastery moved: to architecture, systems thinking, reliability, judgment.
Every abstraction changes what mastery means. Not whether it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that this one IS different. A compiler does exactly what you told it, deterministically.
With AI agents we're increasingly delegating implementation decisions — and some reasoning — not merely instructions.
That's why it feels more personal. It's not just the typing being automated; it's part of the thinking. Which is exactly why our judgment matters more, not 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Dagobah. Luke's X-wing is sunk in the swamp. He thinks lifting a starship is fundamentally different from lifting a stone.
Yoda lifts it anyway. Luke: 'I don't believe it.' Yoda: 'That is why you fail.'
Luke's assumptions limited what he believed was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challenges our assumptions about how much software one engineer can create. The X-wing isn't heavier than the stone — only in our minds.
Making (Addy Osmani): the easiest joy to keep — it moves up a level. You're shaping the system or the factory, not every line, in a loop fast enough that flow still happens. And when you miss the old flow, nothing stops you writing the code yourself.
Knowing: the joy most at risk of erosion. Picking from an agent's options is a different skill than conjuring an idea yourself. His warning: 'If you always pick and never conjure, the ability to conjure will erode.'
You can't direct what you don't understand. If you don't understand your own codebase, the agent is directing you. Knowing has to evolve deliberately — not disappear.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Luke ultimately refuses to let Vader define who he must become. 'I'll never turn to the dark side.'
Learning where you came from doesn't decide where you go.
Engineers can keep their underlying motivations while reinventing how they practice the craft.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joy of mattering never came from the editor, the language, or the framework.
It comes from what we choose to build, the judgment we bring, and the impact on the people who use it.
Addy Osmani again: obsolescence touches us, but our judgment — and the need for it — has never mattered more. We decide which problems to solve, bring our taste, and own whatever ships.
An AI model can't be accountable. You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 it home. Recap the arc: the revelation, why we started, we've been here before, unlearning, choosing.
Adaptation isn't abandoning the craft; it's discovering a new expression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 line land. Pause.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tatement-image-1.jpe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Title-Only-image-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inematic">
    <p:bg>
      <p:bgPr>
        <a:solidFill>
          <a:srgbClr val="0B0F1C"/>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1920240"/>
            <a:ext cx="5852160" cy="411480"/>
          </a:xfrm>
          <a:prstGeom prst="rect">
            <a:avLst/>
          </a:prstGeom>
          <a:noFill/>
          <a:ln/>
        </p:spPr>
        <p:txBody>
          <a:bodyPr wrap="square" rtlCol="0"/>
          <a:lstStyle>
            <a:lvl1pPr indent="0" marL="0">
              <a:buNone/>
              <a:defRPr lang="en-US" sz="1400" b="1" spc="400" kern="0" dirty="0">
                <a:solidFill>
                  <a:schemeClr val="accent1"/>
                </a:solidFill>
              </a:defRPr>
            </a:lvl1pPr>
          </a:lstStyle>
          <a:p>
            <a:pPr indent="0" marL="0">
              <a:buNone/>
            </a:pPr>
            <a:endParaRPr lang="en-US" sz="1400" dirty="0"/>
          </a:p>
        </p:txBody>
      </p:sp>
      <p:sp>
        <p:nvSpPr>
          <p:cNvPr id="3" name="Text 0"/>
          <p:cNvSpPr/>
          <p:nvPr>
            <p:ph idx="101" type="title" hasCustomPrompt="1"/>
          </p:nvPr>
        </p:nvSpPr>
        <p:spPr>
          <a:xfrm>
            <a:off x="640080" y="2377440"/>
            <a:ext cx="6583680" cy="2103120"/>
          </a:xfrm>
          <a:prstGeom prst="rect">
            <a:avLst/>
          </a:prstGeom>
          <a:noFill/>
          <a:ln/>
        </p:spPr>
        <p:txBody>
          <a:bodyPr wrap="square" rtlCol="0"/>
          <a:lstStyle>
            <a:lvl1pPr algn="l" indent="0" marL="0">
              <a:buNone/>
              <a:defRPr lang="en-US" sz="4400" b="1" dirty="0">
                <a:solidFill>
                  <a:schemeClr val="bg1"/>
                </a:solidFill>
                <a:latin typeface="Century Gothic" pitchFamily="34" charset="0"/>
                <a:ea typeface="Century Gothic" pitchFamily="34" charset="-122"/>
                <a:cs typeface="Century Gothic" pitchFamily="34" charset="-120"/>
              </a:defRPr>
            </a:lvl1pPr>
          </a:lstStyle>
          <a:p>
            <a:pPr algn="l" indent="0" marL="0">
              <a:buNone/>
            </a:pPr>
            <a:endParaRPr lang="en-US" sz="4400" dirty="0"/>
          </a:p>
        </p:txBody>
      </p:sp>
      <p:sp>
        <p:nvSpPr>
          <p:cNvPr id="4" name="Text 0"/>
          <p:cNvSpPr/>
          <p:nvPr>
            <p:ph idx="102" type="body" hasCustomPrompt="1"/>
          </p:nvPr>
        </p:nvSpPr>
        <p:spPr>
          <a:xfrm>
            <a:off x="640080" y="4572000"/>
            <a:ext cx="5486400" cy="109728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tatem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1097280" y="1371600"/>
            <a:ext cx="9966960" cy="3108960"/>
          </a:xfrm>
          <a:prstGeom prst="rect">
            <a:avLst/>
          </a:prstGeom>
          <a:noFill/>
          <a:ln/>
        </p:spPr>
        <p:txBody>
          <a:bodyPr wrap="square" rtlCol="0"/>
          <a:lstStyle>
            <a:lvl1pPr algn="ctr" indent="0" marL="0">
              <a:buNone/>
              <a:defRPr lang="en-US" sz="4800" b="1" dirty="0">
                <a:solidFill>
                  <a:schemeClr val="bg1"/>
                </a:solidFill>
                <a:latin typeface="Century Gothic" pitchFamily="34" charset="0"/>
                <a:ea typeface="Century Gothic" pitchFamily="34" charset="-122"/>
                <a:cs typeface="Century Gothic" pitchFamily="34" charset="-120"/>
              </a:defRPr>
            </a:lvl1pPr>
          </a:lstStyle>
          <a:p>
            <a:pPr algn="ctr" indent="0" marL="0">
              <a:buNone/>
            </a:pPr>
            <a:endParaRPr lang="en-US" sz="4800" dirty="0"/>
          </a:p>
        </p:txBody>
      </p:sp>
      <p:sp>
        <p:nvSpPr>
          <p:cNvPr id="3" name="Text 0"/>
          <p:cNvSpPr/>
          <p:nvPr>
            <p:ph idx="101" type="body" hasCustomPrompt="1"/>
          </p:nvPr>
        </p:nvSpPr>
        <p:spPr>
          <a:xfrm>
            <a:off x="1554480" y="4846320"/>
            <a:ext cx="9052560" cy="822960"/>
          </a:xfrm>
          <a:prstGeom prst="rect">
            <a:avLst/>
          </a:prstGeom>
          <a:noFill/>
          <a:ln/>
        </p:spPr>
        <p:txBody>
          <a:bodyPr wrap="square" rtlCol="0"/>
          <a:lstStyle>
            <a:lvl1pPr algn="ctr" indent="0" marL="0">
              <a:buNone/>
              <a:defRPr lang="en-US" sz="2200" dirty="0">
                <a:solidFill>
                  <a:schemeClr val="accent1"/>
                </a:solidFill>
              </a:defRPr>
            </a:lvl1pPr>
          </a:lstStyle>
          <a:p>
            <a:pPr algn="ctr" indent="0" marL="0">
              <a:buNone/>
            </a:pPr>
            <a:endParaRPr lang="en-US" sz="2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Only">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881360" cy="365760"/>
          </a:xfrm>
          <a:prstGeom prst="rect">
            <a:avLst/>
          </a:prstGeom>
          <a:noFill/>
          <a:ln/>
        </p:spPr>
        <p:txBody>
          <a:bodyPr wrap="square" rtlCol="0"/>
          <a:lstStyle>
            <a:lvl1pPr indent="0" marL="0">
              <a:buNone/>
              <a:defRPr lang="en-US" sz="1300" b="1" spc="400" kern="0" dirty="0">
                <a:solidFill>
                  <a:schemeClr val="accent1"/>
                </a:solidFill>
              </a:defRPr>
            </a:lvl1pPr>
          </a:lstStyle>
          <a:p>
            <a:pPr indent="0" marL="0">
              <a:buNone/>
            </a:pPr>
            <a:endParaRPr lang="en-US" sz="1300" dirty="0"/>
          </a:p>
        </p:txBody>
      </p:sp>
      <p:sp>
        <p:nvSpPr>
          <p:cNvPr id="3" name="Text 0"/>
          <p:cNvSpPr/>
          <p:nvPr>
            <p:ph idx="101" type="title" hasCustomPrompt="1"/>
          </p:nvPr>
        </p:nvSpPr>
        <p:spPr>
          <a:xfrm>
            <a:off x="640080" y="777240"/>
            <a:ext cx="10881360" cy="822960"/>
          </a:xfrm>
          <a:prstGeom prst="rect">
            <a:avLst/>
          </a:prstGeom>
          <a:noFill/>
          <a:ln/>
        </p:spPr>
        <p:txBody>
          <a:bodyPr wrap="square" rtlCol="0"/>
          <a:lstStyle>
            <a:lvl1pPr algn="l" indent="0" marL="0">
              <a:buNone/>
              <a:defRPr lang="en-US" sz="3600" b="1" dirty="0">
                <a:solidFill>
                  <a:schemeClr val="bg1"/>
                </a:solidFill>
                <a:latin typeface="Century Gothic" pitchFamily="34" charset="0"/>
                <a:ea typeface="Century Gothic" pitchFamily="34" charset="-122"/>
                <a:cs typeface="Century Gothic"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90"/>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90"/>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4.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png"/><Relationship Id="rId3" Type="http://schemas.openxmlformats.org/officeDocument/2006/relationships/image" Target="../media/image-6-3.jpg"/><Relationship Id="rId4" Type="http://schemas.openxmlformats.org/officeDocument/2006/relationships/image" Target="../media/image-6-4.png"/><Relationship Id="rId5" Type="http://schemas.openxmlformats.org/officeDocument/2006/relationships/slideLayout" Target="../slideLayouts/slideLayout4.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png"/><Relationship Id="rId3" Type="http://schemas.openxmlformats.org/officeDocument/2006/relationships/image" Target="../media/image-7-3.jpg"/><Relationship Id="rId4" Type="http://schemas.openxmlformats.org/officeDocument/2006/relationships/image" Target="../media/image-7-4.png"/><Relationship Id="rId5" Type="http://schemas.openxmlformats.org/officeDocument/2006/relationships/image" Target="../media/image-7-5.jpg"/><Relationship Id="rId6" Type="http://schemas.openxmlformats.org/officeDocument/2006/relationships/image" Target="../media/image-7-6.png"/><Relationship Id="rId7" Type="http://schemas.openxmlformats.org/officeDocument/2006/relationships/slideLayout" Target="../slideLayouts/slideLayout4.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png"/><Relationship Id="rId3" Type="http://schemas.openxmlformats.org/officeDocument/2006/relationships/image" Target="../media/image-8-3.jpg"/><Relationship Id="rId4" Type="http://schemas.openxmlformats.org/officeDocument/2006/relationships/image" Target="../media/image-8-4.png"/><Relationship Id="rId5" Type="http://schemas.openxmlformats.org/officeDocument/2006/relationships/image" Target="../media/image-8-5.jpg"/><Relationship Id="rId6" Type="http://schemas.openxmlformats.org/officeDocument/2006/relationships/image" Target="../media/image-8-6.png"/><Relationship Id="rId7" Type="http://schemas.openxmlformats.org/officeDocument/2006/relationships/image" Target="../media/image-8-7.jpg"/><Relationship Id="rId8" Type="http://schemas.openxmlformats.org/officeDocument/2006/relationships/image" Target="../media/image-8-8.png"/><Relationship Id="rId9" Type="http://schemas.openxmlformats.org/officeDocument/2006/relationships/image" Target="../media/image-8-9.jpg"/><Relationship Id="rId10" Type="http://schemas.openxmlformats.org/officeDocument/2006/relationships/image" Target="../media/image-8-10.png"/><Relationship Id="rId11" Type="http://schemas.openxmlformats.org/officeDocument/2006/relationships/image" Target="../media/image-8-11.jpg"/><Relationship Id="rId12" Type="http://schemas.openxmlformats.org/officeDocument/2006/relationships/slideLayout" Target="../slideLayouts/slideLayout4.xml"/><Relationship Id="rId1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png"/><Relationship Id="rId3" Type="http://schemas.openxmlformats.org/officeDocument/2006/relationships/image" Target="../media/image-12-3.jpg"/><Relationship Id="rId4" Type="http://schemas.openxmlformats.org/officeDocument/2006/relationships/image" Target="../media/image-12-4.png"/><Relationship Id="rId5" Type="http://schemas.openxmlformats.org/officeDocument/2006/relationships/slideLayout" Target="../slideLayouts/slideLayout4.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image" Target="../media/image-16-2.png"/><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Background art" descr="C:\Code\kolatts.github.io\talks\joy-of-engineering\images\revelation-catwalk.jpg">    </p:cNvPr>
          <p:cNvPicPr>
            <a:picLocks noChangeAspect="1"/>
          </p:cNvPicPr>
          <p:nvPr/>
        </p:nvPicPr>
        <p:blipFill>
          <a:blip r:embed="rId1"/>
          <a:srcRect l="0" r="0" t="0" b="0"/>
          <a:stretch/>
        </p:blipFill>
        <p:spPr>
          <a:xfrm>
            <a:off x="0" y="0"/>
            <a:ext cx="12191695" cy="6858000"/>
          </a:xfrm>
          <a:prstGeom prst="rect">
            <a:avLst/>
          </a:prstGeom>
        </p:spPr>
      </p:pic>
      <p:pic>
        <p:nvPicPr>
          <p:cNvPr id="3" name="Legibility scrim" descr="preencoded.png">    </p:cNvPr>
          <p:cNvPicPr>
            <a:picLocks noChangeAspect="1"/>
          </p:cNvPicPr>
          <p:nvPr/>
        </p:nvPicPr>
        <p:blipFill>
          <a:blip r:embed="rId2"/>
          <a:stretch>
            <a:fillRect/>
          </a:stretch>
        </p:blipFill>
        <p:spPr>
          <a:xfrm>
            <a:off x="0" y="0"/>
            <a:ext cx="12191695" cy="6858000"/>
          </a:xfrm>
          <a:prstGeom prst="rect">
            <a:avLst/>
          </a:prstGeom>
        </p:spPr>
      </p:pic>
      <p:sp>
        <p:nvSpPr>
          <p:cNvPr id="4" name="Text 0"/>
          <p:cNvSpPr/>
          <p:nvPr>
            <p:ph idx="100" type="body" hasCustomPrompt="1"/>
          </p:nvPr>
        </p:nvSpPr>
        <p:spPr>
          <a:xfrm>
            <a:off x="640080" y="1920240"/>
            <a:ext cx="5852160" cy="411480"/>
          </a:xfrm>
          <a:prstGeom prst="rect">
            <a:avLst/>
          </a:prstGeom>
          <a:noFill/>
          <a:ln/>
        </p:spPr>
        <p:txBody>
          <a:bodyPr wrap="square" lIns="0" tIns="0" rIns="0" bIns="0" rtlCol="0" anchor="b"/>
          <a:lstStyle/>
          <a:p>
            <a:pPr indent="0" marL="0">
              <a:buNone/>
            </a:pPr>
            <a:r>
              <a:rPr lang="en-US" sz="1400" b="1" spc="400" kern="0" dirty="0">
                <a:solidFill>
                  <a:schemeClr val="accent1"/>
                </a:solidFill>
              </a:rPr>
              <a:t>AI · IDENTITY · CRAFT</a:t>
            </a:r>
            <a:endParaRPr lang="en-US" sz="1400" dirty="0"/>
          </a:p>
        </p:txBody>
      </p:sp>
      <p:sp>
        <p:nvSpPr>
          <p:cNvPr id="5" name="Text 0"/>
          <p:cNvSpPr/>
          <p:nvPr>
            <p:ph idx="101" type="title" hasCustomPrompt="1"/>
          </p:nvPr>
        </p:nvSpPr>
        <p:spPr>
          <a:xfrm>
            <a:off x="640080" y="2377440"/>
            <a:ext cx="6583680" cy="2103120"/>
          </a:xfrm>
          <a:prstGeom prst="rect">
            <a:avLst/>
          </a:prstGeom>
          <a:noFill/>
          <a:ln/>
        </p:spPr>
        <p:txBody>
          <a:bodyPr wrap="square" lIns="0" tIns="0" rIns="0" bIns="0" rtlCol="0" anchor="t"/>
          <a:lstStyle/>
          <a:p>
            <a:pPr algn="l" indent="0" marL="0">
              <a:buNone/>
            </a:pPr>
            <a:r>
              <a:rPr lang="en-US" sz="4400" b="1" dirty="0">
                <a:solidFill>
                  <a:schemeClr val="bg1"/>
                </a:solidFill>
                <a:latin typeface="Century Gothic" pitchFamily="34" charset="0"/>
                <a:ea typeface="Century Gothic" pitchFamily="34" charset="-122"/>
                <a:cs typeface="Century Gothic" pitchFamily="34" charset="-120"/>
              </a:rPr>
              <a:t>I Am Your Father</a:t>
            </a:r>
            <a:endParaRPr lang="en-US" sz="4400" dirty="0"/>
          </a:p>
        </p:txBody>
      </p:sp>
      <p:sp>
        <p:nvSpPr>
          <p:cNvPr id="6" name="Subtitle"/>
          <p:cNvSpPr txBox="1"/>
          <p:nvPr/>
        </p:nvSpPr>
        <p:spPr>
          <a:xfrm>
            <a:off x="640080" y="3566160"/>
            <a:ext cx="5486400" cy="822960"/>
          </a:xfrm>
          <a:prstGeom prst="rect">
            <a:avLst/>
          </a:prstGeom>
          <a:noFill/>
          <a:ln/>
        </p:spPr>
        <p:txBody>
          <a:bodyPr wrap="square" lIns="0" tIns="0" rIns="0" bIns="0" rtlCol="0" anchor="t"/>
          <a:lstStyle/>
          <a:p>
            <a:pPr indent="0" marL="0">
              <a:buNone/>
            </a:pPr>
            <a:r>
              <a:rPr lang="en-US" sz="2000" dirty="0">
                <a:solidFill>
                  <a:schemeClr val="bg2"/>
                </a:solidFill>
              </a:rPr>
              <a:t>The joy of engineering in the age of AI</a:t>
            </a:r>
            <a:endParaRPr lang="en-US" sz="2000" dirty="0"/>
          </a:p>
        </p:txBody>
      </p:sp>
      <p:sp>
        <p:nvSpPr>
          <p:cNvPr id="7" name="Speaker"/>
          <p:cNvSpPr txBox="1"/>
          <p:nvPr/>
        </p:nvSpPr>
        <p:spPr>
          <a:xfrm>
            <a:off x="640080" y="6035040"/>
            <a:ext cx="5486400" cy="365760"/>
          </a:xfrm>
          <a:prstGeom prst="rect">
            <a:avLst/>
          </a:prstGeom>
          <a:noFill/>
          <a:ln/>
        </p:spPr>
        <p:txBody>
          <a:bodyPr wrap="square" lIns="0" tIns="0" rIns="0" bIns="0" rtlCol="0" anchor="ctr"/>
          <a:lstStyle/>
          <a:p>
            <a:pPr indent="0" marL="0">
              <a:buNone/>
            </a:pPr>
            <a:r>
              <a:rPr lang="en-US" sz="1400" dirty="0">
                <a:solidFill>
                  <a:schemeClr val="accent4"/>
                </a:solidFill>
              </a:rPr>
              <a:t>Sunny Kolattukudy</a:t>
            </a:r>
            <a:endParaRPr lang="en-US" sz="1400" dirty="0"/>
          </a:p>
        </p:txBody>
      </p:sp>
      <p:sp>
        <p:nvSpPr>
          <p:cNvPr id="9" name="Text 0"/>
          <p:cNvSpPr/>
          <p:nvPr>
            <p:ph idx="102" type="body" hasCustomPrompt="1"/>
          </p:nvPr>
        </p:nvSpPr>
        <p:spPr>
          <a:xfrm>
            <a:off x="640080" y="4572000"/>
            <a:ext cx="5486400" cy="1097280"/>
          </a:xfrm>
          <a:prstGeom prst="rect">
            <a:avLst/>
          </a:prstGeom>
          <a:noFill/>
          <a:ln/>
        </p:spPr>
        <p:txBody>
          <a:bodyPr wrap="square" lIns="0" tIns="0" rIns="0" bIns="0" rtlCol="0" anchor="t"/>
          <a:lstStyle/>
          <a:p>
            <a:pPr indent="0" marL="0">
              <a:buNone/>
            </a:pP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1097280" y="1371600"/>
            <a:ext cx="9966960" cy="3108960"/>
          </a:xfrm>
          <a:prstGeom prst="rect">
            <a:avLst/>
          </a:prstGeom>
          <a:noFill/>
          <a:ln/>
        </p:spPr>
        <p:txBody>
          <a:bodyPr wrap="square" lIns="0" tIns="0" rIns="0" bIns="0" rtlCol="0" anchor="ctr"/>
          <a:lstStyle/>
          <a:p>
            <a:pPr algn="ctr" indent="0" marL="0">
              <a:buNone/>
            </a:pPr>
            <a:r>
              <a:rPr lang="en-US" sz="4800" b="1" dirty="0">
                <a:solidFill>
                  <a:schemeClr val="bg1"/>
                </a:solidFill>
                <a:latin typeface="Century Gothic" pitchFamily="34" charset="0"/>
                <a:ea typeface="Century Gothic" pitchFamily="34" charset="-122"/>
                <a:cs typeface="Century Gothic" pitchFamily="34" charset="-120"/>
              </a:rPr>
              <a:t>We confuse what we </a:t>
            </a:r>
            <a:pPr algn="ctr" indent="0" marL="0">
              <a:buNone/>
            </a:pPr>
            <a:r>
              <a:rPr lang="en-US" sz="4800" b="1" dirty="0">
                <a:solidFill>
                  <a:schemeClr val="accent1"/>
                </a:solidFill>
                <a:latin typeface="Century Gothic" pitchFamily="34" charset="0"/>
                <a:ea typeface="Century Gothic" pitchFamily="34" charset="-122"/>
                <a:cs typeface="Century Gothic" pitchFamily="34" charset="-120"/>
              </a:rPr>
              <a:t>do</a:t>
            </a:r>
            <a:pPr algn="ctr" indent="0" marL="0">
              <a:buNone/>
            </a:pPr>
            <a:r>
              <a:rPr lang="en-US" sz="4800" b="1" dirty="0">
                <a:solidFill>
                  <a:schemeClr val="bg1"/>
                </a:solidFill>
                <a:latin typeface="Century Gothic" pitchFamily="34" charset="0"/>
                <a:ea typeface="Century Gothic" pitchFamily="34" charset="-122"/>
                <a:cs typeface="Century Gothic" pitchFamily="34" charset="-120"/>
              </a:rPr>
              <a:t> with who we </a:t>
            </a:r>
            <a:pPr algn="ctr" indent="0" marL="0">
              <a:buNone/>
            </a:pPr>
            <a:r>
              <a:rPr lang="en-US" sz="4800" b="1" dirty="0">
                <a:solidFill>
                  <a:schemeClr val="accent2"/>
                </a:solidFill>
                <a:latin typeface="Century Gothic" pitchFamily="34" charset="0"/>
                <a:ea typeface="Century Gothic" pitchFamily="34" charset="-122"/>
                <a:cs typeface="Century Gothic" pitchFamily="34" charset="-120"/>
              </a:rPr>
              <a:t>are</a:t>
            </a:r>
            <a:pPr algn="ctr" indent="0" marL="0">
              <a:buNone/>
            </a:pPr>
            <a:r>
              <a:rPr lang="en-US" sz="4800" b="1" dirty="0">
                <a:solidFill>
                  <a:schemeClr val="bg1"/>
                </a:solidFill>
                <a:latin typeface="Century Gothic" pitchFamily="34" charset="0"/>
                <a:ea typeface="Century Gothic" pitchFamily="34" charset="-122"/>
                <a:cs typeface="Century Gothic" pitchFamily="34" charset="-120"/>
              </a:rPr>
              <a:t>.</a:t>
            </a:r>
            <a:endParaRPr lang="en-US" sz="4800" dirty="0"/>
          </a:p>
        </p:txBody>
      </p:sp>
      <p:sp>
        <p:nvSpPr>
          <p:cNvPr id="3" name="Text 0"/>
          <p:cNvSpPr/>
          <p:nvPr>
            <p:ph idx="101" type="body" hasCustomPrompt="1"/>
          </p:nvPr>
        </p:nvSpPr>
        <p:spPr>
          <a:xfrm>
            <a:off x="1554480" y="4846320"/>
            <a:ext cx="9052560" cy="822960"/>
          </a:xfrm>
          <a:prstGeom prst="rect">
            <a:avLst/>
          </a:prstGeom>
          <a:noFill/>
          <a:ln/>
        </p:spPr>
        <p:txBody>
          <a:bodyPr wrap="square" lIns="0" tIns="0" rIns="0" bIns="0" rtlCol="0" anchor="t"/>
          <a:lstStyle/>
          <a:p>
            <a:pPr algn="ctr" indent="0" marL="0">
              <a:buNone/>
            </a:pPr>
            <a:r>
              <a:rPr lang="en-US" sz="2200" dirty="0">
                <a:solidFill>
                  <a:schemeClr val="accent1"/>
                </a:solidFill>
              </a:rPr>
              <a:t>AI changes how we engineer. Not necessarily why.</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Background art" descr="C:\Code\kolatts.github.io\talks\joy-of-engineering\images\code-writes-itself.jpg">    </p:cNvPr>
          <p:cNvPicPr>
            <a:picLocks noChangeAspect="1"/>
          </p:cNvPicPr>
          <p:nvPr/>
        </p:nvPicPr>
        <p:blipFill>
          <a:blip r:embed="rId1"/>
          <a:srcRect l="0" r="0" t="0" b="0"/>
          <a:stretch/>
        </p:blipFill>
        <p:spPr>
          <a:xfrm>
            <a:off x="0" y="0"/>
            <a:ext cx="12191695" cy="6858000"/>
          </a:xfrm>
          <a:prstGeom prst="rect">
            <a:avLst/>
          </a:prstGeom>
        </p:spPr>
      </p:pic>
      <p:pic>
        <p:nvPicPr>
          <p:cNvPr id="3" name="Legibility scrim" descr="preencoded.png">    </p:cNvPr>
          <p:cNvPicPr>
            <a:picLocks noChangeAspect="1"/>
          </p:cNvPicPr>
          <p:nvPr/>
        </p:nvPicPr>
        <p:blipFill>
          <a:blip r:embed="rId2"/>
          <a:stretch>
            <a:fillRect/>
          </a:stretch>
        </p:blipFill>
        <p:spPr>
          <a:xfrm>
            <a:off x="0" y="0"/>
            <a:ext cx="12191695" cy="6858000"/>
          </a:xfrm>
          <a:prstGeom prst="rect">
            <a:avLst/>
          </a:prstGeom>
        </p:spPr>
      </p:pic>
      <p:sp>
        <p:nvSpPr>
          <p:cNvPr id="4" name="Text 0"/>
          <p:cNvSpPr/>
          <p:nvPr>
            <p:ph idx="100" type="body" hasCustomPrompt="1"/>
          </p:nvPr>
        </p:nvSpPr>
        <p:spPr>
          <a:xfrm>
            <a:off x="640080" y="1920240"/>
            <a:ext cx="5852160" cy="411480"/>
          </a:xfrm>
          <a:prstGeom prst="rect">
            <a:avLst/>
          </a:prstGeom>
          <a:noFill/>
          <a:ln/>
        </p:spPr>
        <p:txBody>
          <a:bodyPr wrap="square" lIns="0" tIns="0" rIns="0" bIns="0" rtlCol="0" anchor="b"/>
          <a:lstStyle/>
          <a:p>
            <a:pPr indent="0" marL="0">
              <a:buNone/>
            </a:pPr>
            <a:r>
              <a:rPr lang="en-US" sz="1400" b="1" spc="400" kern="0" dirty="0">
                <a:solidFill>
                  <a:schemeClr val="accent1"/>
                </a:solidFill>
              </a:rPr>
              <a:t>PART I</a:t>
            </a:r>
            <a:endParaRPr lang="en-US" sz="1400" dirty="0"/>
          </a:p>
        </p:txBody>
      </p:sp>
      <p:sp>
        <p:nvSpPr>
          <p:cNvPr id="5" name="Text 0"/>
          <p:cNvSpPr/>
          <p:nvPr>
            <p:ph idx="101" type="title" hasCustomPrompt="1"/>
          </p:nvPr>
        </p:nvSpPr>
        <p:spPr>
          <a:xfrm>
            <a:off x="640080" y="2377440"/>
            <a:ext cx="6583680" cy="2103120"/>
          </a:xfrm>
          <a:prstGeom prst="rect">
            <a:avLst/>
          </a:prstGeom>
          <a:noFill/>
          <a:ln/>
        </p:spPr>
        <p:txBody>
          <a:bodyPr wrap="square" lIns="0" tIns="0" rIns="0" bIns="0" rtlCol="0" anchor="t"/>
          <a:lstStyle/>
          <a:p>
            <a:pPr algn="l" indent="0" marL="0">
              <a:buNone/>
            </a:pPr>
            <a:r>
              <a:rPr lang="en-US" sz="4400" b="1" dirty="0">
                <a:solidFill>
                  <a:schemeClr val="bg1"/>
                </a:solidFill>
                <a:latin typeface="Century Gothic" pitchFamily="34" charset="0"/>
                <a:ea typeface="Century Gothic" pitchFamily="34" charset="-122"/>
                <a:cs typeface="Century Gothic" pitchFamily="34" charset="-120"/>
              </a:rPr>
              <a:t>The Revelation</a:t>
            </a:r>
            <a:endParaRPr lang="en-US" sz="4400" dirty="0"/>
          </a:p>
        </p:txBody>
      </p:sp>
      <p:sp>
        <p:nvSpPr>
          <p:cNvPr id="6" name="Subtitle"/>
          <p:cNvSpPr txBox="1"/>
          <p:nvPr/>
        </p:nvSpPr>
        <p:spPr>
          <a:xfrm>
            <a:off x="640080" y="3429000"/>
            <a:ext cx="5486400" cy="822960"/>
          </a:xfrm>
          <a:prstGeom prst="rect">
            <a:avLst/>
          </a:prstGeom>
          <a:noFill/>
          <a:ln/>
        </p:spPr>
        <p:txBody>
          <a:bodyPr wrap="square" lIns="0" tIns="0" rIns="0" bIns="0" rtlCol="0" anchor="t"/>
          <a:lstStyle/>
          <a:p>
            <a:pPr indent="0" marL="0">
              <a:buNone/>
            </a:pPr>
            <a:r>
              <a:rPr lang="en-US" sz="2000" i="1" dirty="0">
                <a:solidFill>
                  <a:schemeClr val="bg2"/>
                </a:solidFill>
              </a:rPr>
              <a:t>“No. That’s not true. That’s impossible!”</a:t>
            </a:r>
            <a:endParaRPr lang="en-US" sz="2000" dirty="0"/>
          </a:p>
        </p:txBody>
      </p:sp>
      <p:sp>
        <p:nvSpPr>
          <p:cNvPr id="8" name="Text 0"/>
          <p:cNvSpPr/>
          <p:nvPr>
            <p:ph idx="102" type="body" hasCustomPrompt="1"/>
          </p:nvPr>
        </p:nvSpPr>
        <p:spPr>
          <a:xfrm>
            <a:off x="640080" y="4572000"/>
            <a:ext cx="5486400" cy="1097280"/>
          </a:xfrm>
          <a:prstGeom prst="rect">
            <a:avLst/>
          </a:prstGeom>
          <a:noFill/>
          <a:ln/>
        </p:spPr>
        <p:txBody>
          <a:bodyPr wrap="square" lIns="0" tIns="0" rIns="0" bIns="0" rtlCol="0" anchor="t"/>
          <a:lstStyle/>
          <a:p>
            <a:pPr indent="0" marL="0">
              <a:buNone/>
            </a:pP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881360" cy="365760"/>
          </a:xfrm>
          <a:prstGeom prst="rect">
            <a:avLst/>
          </a:prstGeom>
          <a:noFill/>
          <a:ln/>
        </p:spPr>
        <p:txBody>
          <a:bodyPr wrap="square" lIns="0" tIns="0" rIns="0" bIns="0" rtlCol="0"/>
          <a:lstStyle/>
          <a:p>
            <a:pPr indent="0" marL="0">
              <a:buNone/>
            </a:pPr>
            <a:r>
              <a:rPr lang="en-US" sz="1300" b="1" spc="400" kern="0" dirty="0">
                <a:solidFill>
                  <a:schemeClr val="accent1"/>
                </a:solidFill>
              </a:rPr>
              <a:t>PART I · THE REVELATION</a:t>
            </a:r>
            <a:endParaRPr lang="en-US" sz="1300" dirty="0"/>
          </a:p>
        </p:txBody>
      </p:sp>
      <p:sp>
        <p:nvSpPr>
          <p:cNvPr id="3" name="Text 0"/>
          <p:cNvSpPr/>
          <p:nvPr>
            <p:ph idx="101" type="title" hasCustomPrompt="1"/>
          </p:nvPr>
        </p:nvSpPr>
        <p:spPr>
          <a:xfrm>
            <a:off x="640080" y="777240"/>
            <a:ext cx="10881360" cy="822960"/>
          </a:xfrm>
          <a:prstGeom prst="rect">
            <a:avLst/>
          </a:prstGeom>
          <a:noFill/>
          <a:ln/>
        </p:spPr>
        <p:txBody>
          <a:bodyPr wrap="square" lIns="0" tIns="0" rIns="0" bIns="0" rtlCol="0" anchor="t"/>
          <a:lstStyle/>
          <a:p>
            <a:pPr algn="l" indent="0" marL="0">
              <a:buNone/>
            </a:pPr>
            <a:r>
              <a:rPr lang="en-US" sz="3600" b="1" dirty="0">
                <a:solidFill>
                  <a:schemeClr val="bg1"/>
                </a:solidFill>
                <a:latin typeface="Century Gothic" pitchFamily="34" charset="0"/>
                <a:ea typeface="Century Gothic" pitchFamily="34" charset="-122"/>
                <a:cs typeface="Century Gothic" pitchFamily="34" charset="-120"/>
              </a:rPr>
              <a:t>Every reaction is understandable</a:t>
            </a:r>
            <a:endParaRPr lang="en-US" sz="3600" dirty="0"/>
          </a:p>
        </p:txBody>
      </p:sp>
      <p:pic>
        <p:nvPicPr>
          <p:cNvPr id="4" name="Maze art" descr="C:\Code\kolatts.github.io\talks\joy-of-engineering\images\cheese-maze.jpg">    </p:cNvPr>
          <p:cNvPicPr>
            <a:picLocks noChangeAspect="1"/>
          </p:cNvPicPr>
          <p:nvPr/>
        </p:nvPicPr>
        <p:blipFill>
          <a:blip r:embed="rId1"/>
          <a:srcRect l="0" r="0" t="0" b="0"/>
          <a:stretch/>
        </p:blipFill>
        <p:spPr>
          <a:xfrm>
            <a:off x="640080" y="1828800"/>
            <a:ext cx="6400800" cy="4297680"/>
          </a:xfrm>
          <a:prstGeom prst="rect">
            <a:avLst/>
          </a:prstGeom>
        </p:spPr>
      </p:pic>
      <p:pic>
        <p:nvPicPr>
          <p:cNvPr id="5" name="Who Moved My Cheese cover" descr="C:\Code\kolatts.github.io\talks\joy-of-engineering\images\web-cheese-cover.jpg">    </p:cNvPr>
          <p:cNvPicPr>
            <a:picLocks noChangeAspect="1"/>
          </p:cNvPicPr>
          <p:nvPr/>
        </p:nvPicPr>
        <p:blipFill>
          <a:blip r:embed="rId2"/>
          <a:stretch>
            <a:fillRect/>
          </a:stretch>
        </p:blipFill>
        <p:spPr>
          <a:xfrm>
            <a:off x="7589520" y="1828800"/>
            <a:ext cx="1143000" cy="1764792"/>
          </a:xfrm>
          <a:prstGeom prst="rect">
            <a:avLst/>
          </a:prstGeom>
        </p:spPr>
      </p:pic>
      <p:sp>
        <p:nvSpPr>
          <p:cNvPr id="6" name="Text 2"/>
          <p:cNvSpPr txBox="1"/>
          <p:nvPr/>
        </p:nvSpPr>
        <p:spPr>
          <a:xfrm>
            <a:off x="8961120" y="2148840"/>
            <a:ext cx="2651760" cy="457200"/>
          </a:xfrm>
          <a:prstGeom prst="rect">
            <a:avLst/>
          </a:prstGeom>
          <a:noFill/>
          <a:ln/>
        </p:spPr>
        <p:txBody>
          <a:bodyPr wrap="square" lIns="0" tIns="0" rIns="0" bIns="0" rtlCol="0" anchor="ctr"/>
          <a:lstStyle/>
          <a:p>
            <a:pPr indent="0" marL="0">
              <a:buNone/>
            </a:pPr>
            <a:r>
              <a:rPr lang="en-US" sz="1800" b="1" dirty="0">
                <a:solidFill>
                  <a:schemeClr val="bg1"/>
                </a:solidFill>
              </a:rPr>
              <a:t>Who Moved My Cheese?</a:t>
            </a:r>
            <a:endParaRPr lang="en-US" sz="1800" dirty="0"/>
          </a:p>
        </p:txBody>
      </p:sp>
      <p:sp>
        <p:nvSpPr>
          <p:cNvPr id="7" name="Text 3"/>
          <p:cNvSpPr txBox="1"/>
          <p:nvPr/>
        </p:nvSpPr>
        <p:spPr>
          <a:xfrm>
            <a:off x="8961120" y="2606040"/>
            <a:ext cx="2651760" cy="365760"/>
          </a:xfrm>
          <a:prstGeom prst="rect">
            <a:avLst/>
          </a:prstGeom>
          <a:noFill/>
          <a:ln/>
        </p:spPr>
        <p:txBody>
          <a:bodyPr wrap="square" lIns="0" tIns="0" rIns="0" bIns="0" rtlCol="0" anchor="ctr"/>
          <a:lstStyle/>
          <a:p>
            <a:pPr indent="0" marL="0">
              <a:buNone/>
            </a:pPr>
            <a:r>
              <a:rPr lang="en-US" sz="1400" dirty="0">
                <a:solidFill>
                  <a:schemeClr val="accent4"/>
                </a:solidFill>
              </a:rPr>
              <a:t>Spencer Johnson</a:t>
            </a:r>
            <a:endParaRPr lang="en-US" sz="1400" dirty="0"/>
          </a:p>
        </p:txBody>
      </p:sp>
      <p:sp>
        <p:nvSpPr>
          <p:cNvPr id="8" name="Sniff badge"/>
          <p:cNvSpPr/>
          <p:nvPr/>
        </p:nvSpPr>
        <p:spPr>
          <a:xfrm>
            <a:off x="7589520" y="3977640"/>
            <a:ext cx="640080" cy="640080"/>
          </a:xfrm>
          <a:prstGeom prst="ellipse">
            <a:avLst/>
          </a:prstGeom>
          <a:solidFill>
            <a:schemeClr val="tx2"/>
          </a:solidFill>
          <a:ln w="19050">
            <a:solidFill>
              <a:srgbClr val="5BC0EB"/>
            </a:solidFill>
            <a:prstDash val="solid"/>
          </a:ln>
        </p:spPr>
      </p:sp>
      <p:pic>
        <p:nvPicPr>
          <p:cNvPr id="9" name="Sniff icon" descr="preencoded.png">    </p:cNvPr>
          <p:cNvPicPr>
            <a:picLocks noChangeAspect="1"/>
          </p:cNvPicPr>
          <p:nvPr/>
        </p:nvPicPr>
        <p:blipFill>
          <a:blip r:embed="rId3"/>
          <a:stretch>
            <a:fillRect/>
          </a:stretch>
        </p:blipFill>
        <p:spPr>
          <a:xfrm>
            <a:off x="7744968" y="4133088"/>
            <a:ext cx="329184" cy="329184"/>
          </a:xfrm>
          <a:prstGeom prst="rect">
            <a:avLst/>
          </a:prstGeom>
        </p:spPr>
      </p:pic>
      <p:sp>
        <p:nvSpPr>
          <p:cNvPr id="10" name="Text 5"/>
          <p:cNvSpPr txBox="1"/>
          <p:nvPr/>
        </p:nvSpPr>
        <p:spPr>
          <a:xfrm>
            <a:off x="8366760" y="3959352"/>
            <a:ext cx="1234440" cy="676656"/>
          </a:xfrm>
          <a:prstGeom prst="rect">
            <a:avLst/>
          </a:prstGeom>
          <a:noFill/>
          <a:ln/>
        </p:spPr>
        <p:txBody>
          <a:bodyPr wrap="square" lIns="0" tIns="0" rIns="0" bIns="0" rtlCol="0" anchor="ctr"/>
          <a:lstStyle/>
          <a:p>
            <a:pPr indent="0" marL="0">
              <a:buNone/>
            </a:pPr>
            <a:r>
              <a:rPr lang="en-US" sz="1600" b="1" dirty="0">
                <a:solidFill>
                  <a:schemeClr val="bg1"/>
                </a:solidFill>
              </a:rPr>
              <a:t>Sniff</a:t>
            </a:r>
            <a:endParaRPr lang="en-US" sz="1600" dirty="0"/>
          </a:p>
          <a:p>
            <a:pPr indent="0" marL="0">
              <a:buNone/>
            </a:pPr>
            <a:r>
              <a:rPr lang="en-US" sz="1300" dirty="0">
                <a:solidFill>
                  <a:schemeClr val="bg2"/>
                </a:solidFill>
              </a:rPr>
              <a:t>sees it coming</a:t>
            </a:r>
            <a:endParaRPr lang="en-US" sz="1600" dirty="0"/>
          </a:p>
        </p:txBody>
      </p:sp>
      <p:sp>
        <p:nvSpPr>
          <p:cNvPr id="11" name="Scurry badge"/>
          <p:cNvSpPr/>
          <p:nvPr/>
        </p:nvSpPr>
        <p:spPr>
          <a:xfrm>
            <a:off x="9646920" y="3977640"/>
            <a:ext cx="640080" cy="640080"/>
          </a:xfrm>
          <a:prstGeom prst="ellipse">
            <a:avLst/>
          </a:prstGeom>
          <a:solidFill>
            <a:schemeClr val="tx2"/>
          </a:solidFill>
          <a:ln w="19050">
            <a:solidFill>
              <a:srgbClr val="9BC53D"/>
            </a:solidFill>
            <a:prstDash val="solid"/>
          </a:ln>
        </p:spPr>
      </p:sp>
      <p:pic>
        <p:nvPicPr>
          <p:cNvPr id="12" name="Scurry icon" descr="preencoded.png">    </p:cNvPr>
          <p:cNvPicPr>
            <a:picLocks noChangeAspect="1"/>
          </p:cNvPicPr>
          <p:nvPr/>
        </p:nvPicPr>
        <p:blipFill>
          <a:blip r:embed="rId4"/>
          <a:stretch>
            <a:fillRect/>
          </a:stretch>
        </p:blipFill>
        <p:spPr>
          <a:xfrm>
            <a:off x="9802368" y="4133088"/>
            <a:ext cx="329184" cy="329184"/>
          </a:xfrm>
          <a:prstGeom prst="rect">
            <a:avLst/>
          </a:prstGeom>
        </p:spPr>
      </p:pic>
      <p:sp>
        <p:nvSpPr>
          <p:cNvPr id="13" name="Text 7"/>
          <p:cNvSpPr txBox="1"/>
          <p:nvPr/>
        </p:nvSpPr>
        <p:spPr>
          <a:xfrm>
            <a:off x="10424160" y="3959352"/>
            <a:ext cx="1234440" cy="676656"/>
          </a:xfrm>
          <a:prstGeom prst="rect">
            <a:avLst/>
          </a:prstGeom>
          <a:noFill/>
          <a:ln/>
        </p:spPr>
        <p:txBody>
          <a:bodyPr wrap="square" lIns="0" tIns="0" rIns="0" bIns="0" rtlCol="0" anchor="ctr"/>
          <a:lstStyle/>
          <a:p>
            <a:pPr indent="0" marL="0">
              <a:buNone/>
            </a:pPr>
            <a:r>
              <a:rPr lang="en-US" sz="1600" b="1" dirty="0">
                <a:solidFill>
                  <a:schemeClr val="bg1"/>
                </a:solidFill>
              </a:rPr>
              <a:t>Scurry</a:t>
            </a:r>
            <a:endParaRPr lang="en-US" sz="1600" dirty="0"/>
          </a:p>
          <a:p>
            <a:pPr indent="0" marL="0">
              <a:buNone/>
            </a:pPr>
            <a:r>
              <a:rPr lang="en-US" sz="1300" dirty="0">
                <a:solidFill>
                  <a:schemeClr val="bg2"/>
                </a:solidFill>
              </a:rPr>
              <a:t>acts fast</a:t>
            </a:r>
            <a:endParaRPr lang="en-US" sz="1600" dirty="0"/>
          </a:p>
        </p:txBody>
      </p:sp>
      <p:sp>
        <p:nvSpPr>
          <p:cNvPr id="14" name="Hem badge"/>
          <p:cNvSpPr/>
          <p:nvPr/>
        </p:nvSpPr>
        <p:spPr>
          <a:xfrm>
            <a:off x="7589520" y="5074920"/>
            <a:ext cx="640080" cy="640080"/>
          </a:xfrm>
          <a:prstGeom prst="ellipse">
            <a:avLst/>
          </a:prstGeom>
          <a:solidFill>
            <a:schemeClr val="tx2"/>
          </a:solidFill>
          <a:ln w="19050">
            <a:solidFill>
              <a:srgbClr val="E4572E"/>
            </a:solidFill>
            <a:prstDash val="solid"/>
          </a:ln>
        </p:spPr>
      </p:sp>
      <p:pic>
        <p:nvPicPr>
          <p:cNvPr id="15" name="Hem icon" descr="preencoded.png">    </p:cNvPr>
          <p:cNvPicPr>
            <a:picLocks noChangeAspect="1"/>
          </p:cNvPicPr>
          <p:nvPr/>
        </p:nvPicPr>
        <p:blipFill>
          <a:blip r:embed="rId5"/>
          <a:stretch>
            <a:fillRect/>
          </a:stretch>
        </p:blipFill>
        <p:spPr>
          <a:xfrm>
            <a:off x="7744968" y="5230368"/>
            <a:ext cx="329184" cy="329184"/>
          </a:xfrm>
          <a:prstGeom prst="rect">
            <a:avLst/>
          </a:prstGeom>
        </p:spPr>
      </p:pic>
      <p:sp>
        <p:nvSpPr>
          <p:cNvPr id="16" name="Text 9"/>
          <p:cNvSpPr txBox="1"/>
          <p:nvPr/>
        </p:nvSpPr>
        <p:spPr>
          <a:xfrm>
            <a:off x="8366760" y="5056632"/>
            <a:ext cx="1234440" cy="676656"/>
          </a:xfrm>
          <a:prstGeom prst="rect">
            <a:avLst/>
          </a:prstGeom>
          <a:noFill/>
          <a:ln/>
        </p:spPr>
        <p:txBody>
          <a:bodyPr wrap="square" lIns="0" tIns="0" rIns="0" bIns="0" rtlCol="0" anchor="ctr"/>
          <a:lstStyle/>
          <a:p>
            <a:pPr indent="0" marL="0">
              <a:buNone/>
            </a:pPr>
            <a:r>
              <a:rPr lang="en-US" sz="1600" b="1" dirty="0">
                <a:solidFill>
                  <a:schemeClr val="bg1"/>
                </a:solidFill>
              </a:rPr>
              <a:t>Hem</a:t>
            </a:r>
            <a:endParaRPr lang="en-US" sz="1600" dirty="0"/>
          </a:p>
          <a:p>
            <a:pPr indent="0" marL="0">
              <a:buNone/>
            </a:pPr>
            <a:r>
              <a:rPr lang="en-US" sz="1300" dirty="0">
                <a:solidFill>
                  <a:schemeClr val="bg2"/>
                </a:solidFill>
              </a:rPr>
              <a:t>resists</a:t>
            </a:r>
            <a:endParaRPr lang="en-US" sz="1600" dirty="0"/>
          </a:p>
        </p:txBody>
      </p:sp>
      <p:sp>
        <p:nvSpPr>
          <p:cNvPr id="17" name="Haw badge"/>
          <p:cNvSpPr/>
          <p:nvPr/>
        </p:nvSpPr>
        <p:spPr>
          <a:xfrm>
            <a:off x="9646920" y="5074920"/>
            <a:ext cx="640080" cy="640080"/>
          </a:xfrm>
          <a:prstGeom prst="ellipse">
            <a:avLst/>
          </a:prstGeom>
          <a:solidFill>
            <a:schemeClr val="tx2"/>
          </a:solidFill>
          <a:ln w="19050">
            <a:solidFill>
              <a:srgbClr val="F2A541"/>
            </a:solidFill>
            <a:prstDash val="solid"/>
          </a:ln>
        </p:spPr>
      </p:sp>
      <p:pic>
        <p:nvPicPr>
          <p:cNvPr id="18" name="Haw icon" descr="preencoded.png">    </p:cNvPr>
          <p:cNvPicPr>
            <a:picLocks noChangeAspect="1"/>
          </p:cNvPicPr>
          <p:nvPr/>
        </p:nvPicPr>
        <p:blipFill>
          <a:blip r:embed="rId6"/>
          <a:stretch>
            <a:fillRect/>
          </a:stretch>
        </p:blipFill>
        <p:spPr>
          <a:xfrm>
            <a:off x="9802368" y="5230368"/>
            <a:ext cx="329184" cy="329184"/>
          </a:xfrm>
          <a:prstGeom prst="rect">
            <a:avLst/>
          </a:prstGeom>
        </p:spPr>
      </p:pic>
      <p:sp>
        <p:nvSpPr>
          <p:cNvPr id="19" name="Text 11"/>
          <p:cNvSpPr txBox="1"/>
          <p:nvPr/>
        </p:nvSpPr>
        <p:spPr>
          <a:xfrm>
            <a:off x="10424160" y="5056632"/>
            <a:ext cx="1234440" cy="676656"/>
          </a:xfrm>
          <a:prstGeom prst="rect">
            <a:avLst/>
          </a:prstGeom>
          <a:noFill/>
          <a:ln/>
        </p:spPr>
        <p:txBody>
          <a:bodyPr wrap="square" lIns="0" tIns="0" rIns="0" bIns="0" rtlCol="0" anchor="ctr"/>
          <a:lstStyle/>
          <a:p>
            <a:pPr indent="0" marL="0">
              <a:buNone/>
            </a:pPr>
            <a:r>
              <a:rPr lang="en-US" sz="1600" b="1" dirty="0">
                <a:solidFill>
                  <a:schemeClr val="bg1"/>
                </a:solidFill>
              </a:rPr>
              <a:t>Haw</a:t>
            </a:r>
            <a:endParaRPr lang="en-US" sz="1600" dirty="0"/>
          </a:p>
          <a:p>
            <a:pPr indent="0" marL="0">
              <a:buNone/>
            </a:pPr>
            <a:r>
              <a:rPr lang="en-US" sz="1300" dirty="0">
                <a:solidFill>
                  <a:schemeClr val="bg2"/>
                </a:solidFill>
              </a:rPr>
              <a:t>adapts</a:t>
            </a:r>
            <a:endParaRPr lang="en-US" sz="1600" dirty="0"/>
          </a:p>
        </p:txBody>
      </p:sp>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90"/>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Background art" descr="C:\Code\kolatts.github.io\talks\joy-of-engineering\images\first-spark.jpg">    </p:cNvPr>
          <p:cNvPicPr>
            <a:picLocks noChangeAspect="1"/>
          </p:cNvPicPr>
          <p:nvPr/>
        </p:nvPicPr>
        <p:blipFill>
          <a:blip r:embed="rId1"/>
          <a:srcRect l="0" r="0" t="0" b="0"/>
          <a:stretch/>
        </p:blipFill>
        <p:spPr>
          <a:xfrm>
            <a:off x="0" y="0"/>
            <a:ext cx="12191695" cy="6858000"/>
          </a:xfrm>
          <a:prstGeom prst="rect">
            <a:avLst/>
          </a:prstGeom>
        </p:spPr>
      </p:pic>
      <p:pic>
        <p:nvPicPr>
          <p:cNvPr id="3" name="Legibility scrim" descr="preencoded.png">    </p:cNvPr>
          <p:cNvPicPr>
            <a:picLocks noChangeAspect="1"/>
          </p:cNvPicPr>
          <p:nvPr/>
        </p:nvPicPr>
        <p:blipFill>
          <a:blip r:embed="rId2"/>
          <a:stretch>
            <a:fillRect/>
          </a:stretch>
        </p:blipFill>
        <p:spPr>
          <a:xfrm>
            <a:off x="0" y="0"/>
            <a:ext cx="12191695" cy="6858000"/>
          </a:xfrm>
          <a:prstGeom prst="rect">
            <a:avLst/>
          </a:prstGeom>
        </p:spPr>
      </p:pic>
      <p:sp>
        <p:nvSpPr>
          <p:cNvPr id="4" name="Text 0"/>
          <p:cNvSpPr/>
          <p:nvPr>
            <p:ph idx="100" type="body" hasCustomPrompt="1"/>
          </p:nvPr>
        </p:nvSpPr>
        <p:spPr>
          <a:xfrm>
            <a:off x="640080" y="1920240"/>
            <a:ext cx="5852160" cy="411480"/>
          </a:xfrm>
          <a:prstGeom prst="rect">
            <a:avLst/>
          </a:prstGeom>
          <a:noFill/>
          <a:ln/>
        </p:spPr>
        <p:txBody>
          <a:bodyPr wrap="square" lIns="0" tIns="0" rIns="0" bIns="0" rtlCol="0" anchor="b"/>
          <a:lstStyle/>
          <a:p>
            <a:pPr indent="0" marL="0">
              <a:buNone/>
            </a:pPr>
            <a:r>
              <a:rPr lang="en-US" sz="1400" b="1" spc="400" kern="0" dirty="0">
                <a:solidFill>
                  <a:schemeClr val="accent1"/>
                </a:solidFill>
              </a:rPr>
              <a:t>PART II</a:t>
            </a:r>
            <a:endParaRPr lang="en-US" sz="1400" dirty="0"/>
          </a:p>
        </p:txBody>
      </p:sp>
      <p:sp>
        <p:nvSpPr>
          <p:cNvPr id="5" name="Text 0"/>
          <p:cNvSpPr/>
          <p:nvPr>
            <p:ph idx="101" type="title" hasCustomPrompt="1"/>
          </p:nvPr>
        </p:nvSpPr>
        <p:spPr>
          <a:xfrm>
            <a:off x="640080" y="2377440"/>
            <a:ext cx="6583680" cy="2103120"/>
          </a:xfrm>
          <a:prstGeom prst="rect">
            <a:avLst/>
          </a:prstGeom>
          <a:noFill/>
          <a:ln/>
        </p:spPr>
        <p:txBody>
          <a:bodyPr wrap="square" lIns="0" tIns="0" rIns="0" bIns="0" rtlCol="0" anchor="t"/>
          <a:lstStyle/>
          <a:p>
            <a:pPr algn="l" indent="0" marL="0">
              <a:buNone/>
            </a:pPr>
            <a:r>
              <a:rPr lang="en-US" sz="4400" b="1" dirty="0">
                <a:solidFill>
                  <a:schemeClr val="bg1"/>
                </a:solidFill>
                <a:latin typeface="Century Gothic" pitchFamily="34" charset="0"/>
                <a:ea typeface="Century Gothic" pitchFamily="34" charset="-122"/>
                <a:cs typeface="Century Gothic" pitchFamily="34" charset="-120"/>
              </a:rPr>
              <a:t>Why did you become an engineer?</a:t>
            </a:r>
            <a:endParaRPr lang="en-US" sz="4400" dirty="0"/>
          </a:p>
        </p:txBody>
      </p:sp>
      <p:sp>
        <p:nvSpPr>
          <p:cNvPr id="6" name="Text 0"/>
          <p:cNvSpPr/>
          <p:nvPr>
            <p:ph idx="102" type="body" hasCustomPrompt="1"/>
          </p:nvPr>
        </p:nvSpPr>
        <p:spPr>
          <a:xfrm>
            <a:off x="640080" y="4572000"/>
            <a:ext cx="5486400" cy="1097280"/>
          </a:xfrm>
          <a:prstGeom prst="rect">
            <a:avLst/>
          </a:prstGeom>
          <a:noFill/>
          <a:ln/>
        </p:spPr>
        <p:txBody>
          <a:bodyPr wrap="square" lIns="0" tIns="0" rIns="0" bIns="0" rtlCol="0" anchor="t"/>
          <a:lstStyle/>
          <a:p>
            <a:pPr indent="0" marL="0">
              <a:buNone/>
            </a:pPr>
            <a:r>
              <a:rPr lang="en-US" sz="2000" dirty="0">
                <a:solidFill>
                  <a:schemeClr val="bg2"/>
                </a:solidFill>
              </a:rPr>
              <a:t>Remember the first time it worked.</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881360" cy="365760"/>
          </a:xfrm>
          <a:prstGeom prst="rect">
            <a:avLst/>
          </a:prstGeom>
          <a:noFill/>
          <a:ln/>
        </p:spPr>
        <p:txBody>
          <a:bodyPr wrap="square" lIns="0" tIns="0" rIns="0" bIns="0" rtlCol="0"/>
          <a:lstStyle/>
          <a:p>
            <a:pPr indent="0" marL="0">
              <a:buNone/>
            </a:pPr>
            <a:r>
              <a:rPr lang="en-US" sz="1300" b="1" spc="400" kern="0" dirty="0">
                <a:solidFill>
                  <a:schemeClr val="accent1"/>
                </a:solidFill>
              </a:rPr>
              <a:t>PART II · IDENTITY</a:t>
            </a:r>
            <a:endParaRPr lang="en-US" sz="1300" dirty="0"/>
          </a:p>
        </p:txBody>
      </p:sp>
      <p:sp>
        <p:nvSpPr>
          <p:cNvPr id="3" name="Text 0"/>
          <p:cNvSpPr/>
          <p:nvPr>
            <p:ph idx="101" type="title" hasCustomPrompt="1"/>
          </p:nvPr>
        </p:nvSpPr>
        <p:spPr>
          <a:xfrm>
            <a:off x="640080" y="777240"/>
            <a:ext cx="10881360" cy="822960"/>
          </a:xfrm>
          <a:prstGeom prst="rect">
            <a:avLst/>
          </a:prstGeom>
          <a:noFill/>
          <a:ln/>
        </p:spPr>
        <p:txBody>
          <a:bodyPr wrap="square" lIns="0" tIns="0" rIns="0" bIns="0" rtlCol="0" anchor="t"/>
          <a:lstStyle/>
          <a:p>
            <a:pPr algn="l" indent="0" marL="0">
              <a:buNone/>
            </a:pPr>
            <a:r>
              <a:rPr lang="en-US" sz="3600" b="1" dirty="0">
                <a:solidFill>
                  <a:schemeClr val="bg1"/>
                </a:solidFill>
                <a:latin typeface="Century Gothic" pitchFamily="34" charset="0"/>
                <a:ea typeface="Century Gothic" pitchFamily="34" charset="-122"/>
                <a:cs typeface="Century Gothic" pitchFamily="34" charset="-120"/>
              </a:rPr>
              <a:t>Liberation or loss?</a:t>
            </a:r>
            <a:endParaRPr lang="en-US" sz="3600" dirty="0"/>
          </a:p>
        </p:txBody>
      </p:sp>
      <p:pic>
        <p:nvPicPr>
          <p:cNvPr id="4" name="Liberation art" descr="C:\Code\kolatts.github.io\talks\joy-of-engineering\images\hyperspace.jpg">    </p:cNvPr>
          <p:cNvPicPr>
            <a:picLocks noChangeAspect="1"/>
          </p:cNvPicPr>
          <p:nvPr/>
        </p:nvPicPr>
        <p:blipFill>
          <a:blip r:embed="rId1"/>
          <a:srcRect l="0" r="0" t="0" b="0"/>
          <a:stretch/>
        </p:blipFill>
        <p:spPr>
          <a:xfrm>
            <a:off x="640080" y="1828800"/>
            <a:ext cx="5349240" cy="3291840"/>
          </a:xfrm>
          <a:prstGeom prst="rect">
            <a:avLst/>
          </a:prstGeom>
        </p:spPr>
      </p:pic>
      <p:pic>
        <p:nvPicPr>
          <p:cNvPr id="5" name="Liberation scrim" descr="preencoded.png">    </p:cNvPr>
          <p:cNvPicPr>
            <a:picLocks noChangeAspect="1"/>
          </p:cNvPicPr>
          <p:nvPr/>
        </p:nvPicPr>
        <p:blipFill>
          <a:blip r:embed="rId2"/>
          <a:srcRect l="0" r="0" t="0" b="0"/>
          <a:stretch/>
        </p:blipFill>
        <p:spPr>
          <a:xfrm>
            <a:off x="640080" y="1828800"/>
            <a:ext cx="5349240" cy="3291840"/>
          </a:xfrm>
          <a:prstGeom prst="rect">
            <a:avLst/>
          </a:prstGeom>
        </p:spPr>
      </p:pic>
      <p:sp>
        <p:nvSpPr>
          <p:cNvPr id="6" name="Text 2"/>
          <p:cNvSpPr txBox="1"/>
          <p:nvPr/>
        </p:nvSpPr>
        <p:spPr>
          <a:xfrm>
            <a:off x="960120" y="4251960"/>
            <a:ext cx="4709160" cy="640080"/>
          </a:xfrm>
          <a:prstGeom prst="rect">
            <a:avLst/>
          </a:prstGeom>
          <a:noFill/>
          <a:ln/>
        </p:spPr>
        <p:txBody>
          <a:bodyPr wrap="square" lIns="0" tIns="0" rIns="0" bIns="0" rtlCol="0" anchor="ctr"/>
          <a:lstStyle/>
          <a:p>
            <a:pPr indent="0" marL="0">
              <a:buNone/>
            </a:pPr>
            <a:r>
              <a:rPr lang="en-US" sz="3200" b="1" dirty="0">
                <a:solidFill>
                  <a:schemeClr val="accent2"/>
                </a:solidFill>
                <a:latin typeface="Century Gothic" pitchFamily="34" charset="0"/>
                <a:ea typeface="Century Gothic" pitchFamily="34" charset="-122"/>
                <a:cs typeface="Century Gothic" pitchFamily="34" charset="-120"/>
              </a:rPr>
              <a:t>Liberation</a:t>
            </a:r>
            <a:endParaRPr lang="en-US" sz="3200" dirty="0"/>
          </a:p>
        </p:txBody>
      </p:sp>
      <p:pic>
        <p:nvPicPr>
          <p:cNvPr id="7" name="Loss art" descr="C:\Code\kolatts.github.io\talks\joy-of-engineering\images\revelation-catwalk.jpg">    </p:cNvPr>
          <p:cNvPicPr>
            <a:picLocks noChangeAspect="1"/>
          </p:cNvPicPr>
          <p:nvPr/>
        </p:nvPicPr>
        <p:blipFill>
          <a:blip r:embed="rId3"/>
          <a:srcRect l="0" r="0" t="0" b="0"/>
          <a:stretch/>
        </p:blipFill>
        <p:spPr>
          <a:xfrm>
            <a:off x="6172200" y="1828800"/>
            <a:ext cx="5349240" cy="3291840"/>
          </a:xfrm>
          <a:prstGeom prst="rect">
            <a:avLst/>
          </a:prstGeom>
        </p:spPr>
      </p:pic>
      <p:pic>
        <p:nvPicPr>
          <p:cNvPr id="8" name="Loss scrim" descr="preencoded.png">    </p:cNvPr>
          <p:cNvPicPr>
            <a:picLocks noChangeAspect="1"/>
          </p:cNvPicPr>
          <p:nvPr/>
        </p:nvPicPr>
        <p:blipFill>
          <a:blip r:embed="rId4"/>
          <a:srcRect l="0" r="0" t="0" b="0"/>
          <a:stretch/>
        </p:blipFill>
        <p:spPr>
          <a:xfrm>
            <a:off x="6172200" y="1828800"/>
            <a:ext cx="5349240" cy="3291840"/>
          </a:xfrm>
          <a:prstGeom prst="rect">
            <a:avLst/>
          </a:prstGeom>
        </p:spPr>
      </p:pic>
      <p:sp>
        <p:nvSpPr>
          <p:cNvPr id="9" name="Text 3"/>
          <p:cNvSpPr txBox="1"/>
          <p:nvPr/>
        </p:nvSpPr>
        <p:spPr>
          <a:xfrm>
            <a:off x="6492240" y="4251960"/>
            <a:ext cx="4709160" cy="640080"/>
          </a:xfrm>
          <a:prstGeom prst="rect">
            <a:avLst/>
          </a:prstGeom>
          <a:noFill/>
          <a:ln/>
        </p:spPr>
        <p:txBody>
          <a:bodyPr wrap="square" lIns="0" tIns="0" rIns="0" bIns="0" rtlCol="0" anchor="ctr"/>
          <a:lstStyle/>
          <a:p>
            <a:pPr indent="0" marL="0">
              <a:buNone/>
            </a:pPr>
            <a:r>
              <a:rPr lang="en-US" sz="3200" b="1" dirty="0">
                <a:solidFill>
                  <a:schemeClr val="accent3"/>
                </a:solidFill>
                <a:latin typeface="Century Gothic" pitchFamily="34" charset="0"/>
                <a:ea typeface="Century Gothic" pitchFamily="34" charset="-122"/>
                <a:cs typeface="Century Gothic" pitchFamily="34" charset="-120"/>
              </a:rPr>
              <a:t>Loss</a:t>
            </a:r>
            <a:endParaRPr lang="en-US" sz="3200" dirty="0"/>
          </a:p>
        </p:txBody>
      </p:sp>
      <p:sp>
        <p:nvSpPr>
          <p:cNvPr id="10" name="Takeaway"/>
          <p:cNvSpPr txBox="1"/>
          <p:nvPr/>
        </p:nvSpPr>
        <p:spPr>
          <a:xfrm>
            <a:off x="640080" y="5349240"/>
            <a:ext cx="10881360" cy="457200"/>
          </a:xfrm>
          <a:prstGeom prst="rect">
            <a:avLst/>
          </a:prstGeom>
          <a:noFill/>
          <a:ln/>
        </p:spPr>
        <p:txBody>
          <a:bodyPr wrap="square" lIns="0" tIns="0" rIns="0" bIns="0" rtlCol="0" anchor="ctr"/>
          <a:lstStyle/>
          <a:p>
            <a:pPr algn="ctr" indent="0" marL="0">
              <a:buNone/>
            </a:pPr>
            <a:r>
              <a:rPr lang="en-US" sz="2200" dirty="0">
                <a:solidFill>
                  <a:schemeClr val="bg1"/>
                </a:solidFill>
              </a:rPr>
              <a:t>It depends which joy of engineering you lean on most.</a:t>
            </a:r>
            <a:endParaRPr lang="en-US" sz="2200" dirty="0"/>
          </a:p>
        </p:txBody>
      </p:sp>
      <p:sp>
        <p:nvSpPr>
          <p:cNvPr id="11" name="Credit"/>
          <p:cNvSpPr txBox="1"/>
          <p:nvPr/>
        </p:nvSpPr>
        <p:spPr>
          <a:xfrm>
            <a:off x="640080" y="5897880"/>
            <a:ext cx="10881360" cy="320040"/>
          </a:xfrm>
          <a:prstGeom prst="rect">
            <a:avLst/>
          </a:prstGeom>
          <a:noFill/>
          <a:ln/>
        </p:spPr>
        <p:txBody>
          <a:bodyPr wrap="square" lIns="0" tIns="0" rIns="0" bIns="0" rtlCol="0" anchor="ctr"/>
          <a:lstStyle/>
          <a:p>
            <a:pPr algn="ctr" indent="0" marL="0">
              <a:buNone/>
            </a:pPr>
            <a:r>
              <a:rPr lang="en-US" sz="1200" dirty="0">
                <a:solidFill>
                  <a:schemeClr val="accent4"/>
                </a:solidFill>
              </a:rPr>
              <a:t>Addy Osmani · Member of Technical Staff, Anthropic</a:t>
            </a:r>
            <a:endParaRPr lang="en-US" sz="1200" dirty="0"/>
          </a:p>
        </p:txBody>
      </p:sp>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90"/>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881360" cy="365760"/>
          </a:xfrm>
          <a:prstGeom prst="rect">
            <a:avLst/>
          </a:prstGeom>
          <a:noFill/>
          <a:ln/>
        </p:spPr>
        <p:txBody>
          <a:bodyPr wrap="square" lIns="0" tIns="0" rIns="0" bIns="0" rtlCol="0"/>
          <a:lstStyle/>
          <a:p>
            <a:pPr indent="0" marL="0">
              <a:buNone/>
            </a:pPr>
            <a:r>
              <a:rPr lang="en-US" sz="1300" b="1" spc="400" kern="0" dirty="0">
                <a:solidFill>
                  <a:schemeClr val="accent1"/>
                </a:solidFill>
              </a:rPr>
              <a:t>PART II · IDENTITY</a:t>
            </a:r>
            <a:endParaRPr lang="en-US" sz="1300" dirty="0"/>
          </a:p>
        </p:txBody>
      </p:sp>
      <p:sp>
        <p:nvSpPr>
          <p:cNvPr id="3" name="Text 0"/>
          <p:cNvSpPr/>
          <p:nvPr>
            <p:ph idx="101" type="title" hasCustomPrompt="1"/>
          </p:nvPr>
        </p:nvSpPr>
        <p:spPr>
          <a:xfrm>
            <a:off x="640080" y="777240"/>
            <a:ext cx="10881360" cy="822960"/>
          </a:xfrm>
          <a:prstGeom prst="rect">
            <a:avLst/>
          </a:prstGeom>
          <a:noFill/>
          <a:ln/>
        </p:spPr>
        <p:txBody>
          <a:bodyPr wrap="square" lIns="0" tIns="0" rIns="0" bIns="0" rtlCol="0" anchor="t"/>
          <a:lstStyle/>
          <a:p>
            <a:pPr algn="l" indent="0" marL="0">
              <a:buNone/>
            </a:pPr>
            <a:r>
              <a:rPr lang="en-US" sz="3600" b="1" dirty="0">
                <a:solidFill>
                  <a:schemeClr val="bg1"/>
                </a:solidFill>
                <a:latin typeface="Century Gothic" pitchFamily="34" charset="0"/>
                <a:ea typeface="Century Gothic" pitchFamily="34" charset="-122"/>
                <a:cs typeface="Century Gothic" pitchFamily="34" charset="-120"/>
              </a:rPr>
              <a:t>The three joys of engineering</a:t>
            </a:r>
            <a:endParaRPr lang="en-US" sz="3600" dirty="0"/>
          </a:p>
        </p:txBody>
      </p:sp>
      <p:pic>
        <p:nvPicPr>
          <p:cNvPr id="4" name="Making art" descr="C:\Code\kolatts.github.io\talks\joy-of-engineering\images\joy-making.jpg">    </p:cNvPr>
          <p:cNvPicPr>
            <a:picLocks noChangeAspect="1"/>
          </p:cNvPicPr>
          <p:nvPr/>
        </p:nvPicPr>
        <p:blipFill>
          <a:blip r:embed="rId1"/>
          <a:srcRect l="0" r="0" t="0" b="0"/>
          <a:stretch/>
        </p:blipFill>
        <p:spPr>
          <a:xfrm>
            <a:off x="640080" y="1828800"/>
            <a:ext cx="3429000" cy="4023360"/>
          </a:xfrm>
          <a:prstGeom prst="rect">
            <a:avLst/>
          </a:prstGeom>
        </p:spPr>
      </p:pic>
      <p:pic>
        <p:nvPicPr>
          <p:cNvPr id="5" name="Making scrim" descr="preencoded.png">    </p:cNvPr>
          <p:cNvPicPr>
            <a:picLocks noChangeAspect="1"/>
          </p:cNvPicPr>
          <p:nvPr/>
        </p:nvPicPr>
        <p:blipFill>
          <a:blip r:embed="rId2"/>
          <a:srcRect l="0" r="0" t="0" b="0"/>
          <a:stretch/>
        </p:blipFill>
        <p:spPr>
          <a:xfrm>
            <a:off x="640080" y="1828800"/>
            <a:ext cx="3429000" cy="4023360"/>
          </a:xfrm>
          <a:prstGeom prst="rect">
            <a:avLst/>
          </a:prstGeom>
        </p:spPr>
      </p:pic>
      <p:sp>
        <p:nvSpPr>
          <p:cNvPr id="6" name="Text 2"/>
          <p:cNvSpPr txBox="1"/>
          <p:nvPr/>
        </p:nvSpPr>
        <p:spPr>
          <a:xfrm>
            <a:off x="914400" y="4343400"/>
            <a:ext cx="2880360" cy="594360"/>
          </a:xfrm>
          <a:prstGeom prst="rect">
            <a:avLst/>
          </a:prstGeom>
          <a:noFill/>
          <a:ln/>
        </p:spPr>
        <p:txBody>
          <a:bodyPr wrap="square" lIns="0" tIns="0" rIns="0" bIns="0" rtlCol="0" anchor="ctr"/>
          <a:lstStyle/>
          <a:p>
            <a:pPr indent="0" marL="0">
              <a:buNone/>
            </a:pPr>
            <a:r>
              <a:rPr lang="en-US" sz="3000" b="1" dirty="0">
                <a:solidFill>
                  <a:schemeClr val="accent1"/>
                </a:solidFill>
                <a:latin typeface="Century Gothic" pitchFamily="34" charset="0"/>
                <a:ea typeface="Century Gothic" pitchFamily="34" charset="-122"/>
                <a:cs typeface="Century Gothic" pitchFamily="34" charset="-120"/>
              </a:rPr>
              <a:t>Making</a:t>
            </a:r>
            <a:endParaRPr lang="en-US" sz="3000" dirty="0"/>
          </a:p>
        </p:txBody>
      </p:sp>
      <p:sp>
        <p:nvSpPr>
          <p:cNvPr id="7" name="Text 3"/>
          <p:cNvSpPr txBox="1"/>
          <p:nvPr/>
        </p:nvSpPr>
        <p:spPr>
          <a:xfrm>
            <a:off x="914400" y="4983480"/>
            <a:ext cx="2880360" cy="685800"/>
          </a:xfrm>
          <a:prstGeom prst="rect">
            <a:avLst/>
          </a:prstGeom>
          <a:noFill/>
          <a:ln/>
        </p:spPr>
        <p:txBody>
          <a:bodyPr wrap="square" lIns="0" tIns="0" rIns="0" bIns="0" rtlCol="0" anchor="t"/>
          <a:lstStyle/>
          <a:p>
            <a:pPr indent="0" marL="0">
              <a:buNone/>
            </a:pPr>
            <a:r>
              <a:rPr lang="en-US" sz="1600" dirty="0">
                <a:solidFill>
                  <a:schemeClr val="bg1"/>
                </a:solidFill>
              </a:rPr>
              <a:t>flow — the moment it clicks into place</a:t>
            </a:r>
            <a:endParaRPr lang="en-US" sz="1600" dirty="0"/>
          </a:p>
        </p:txBody>
      </p:sp>
      <p:pic>
        <p:nvPicPr>
          <p:cNvPr id="8" name="Knowing art" descr="C:\Code\kolatts.github.io\talks\joy-of-engineering\images\joy-knowing.jpg">    </p:cNvPr>
          <p:cNvPicPr>
            <a:picLocks noChangeAspect="1"/>
          </p:cNvPicPr>
          <p:nvPr/>
        </p:nvPicPr>
        <p:blipFill>
          <a:blip r:embed="rId3"/>
          <a:srcRect l="0" r="0" t="0" b="0"/>
          <a:stretch/>
        </p:blipFill>
        <p:spPr>
          <a:xfrm>
            <a:off x="4343400" y="1828800"/>
            <a:ext cx="3429000" cy="4023360"/>
          </a:xfrm>
          <a:prstGeom prst="rect">
            <a:avLst/>
          </a:prstGeom>
        </p:spPr>
      </p:pic>
      <p:pic>
        <p:nvPicPr>
          <p:cNvPr id="9" name="Knowing scrim" descr="preencoded.png">    </p:cNvPr>
          <p:cNvPicPr>
            <a:picLocks noChangeAspect="1"/>
          </p:cNvPicPr>
          <p:nvPr/>
        </p:nvPicPr>
        <p:blipFill>
          <a:blip r:embed="rId4"/>
          <a:srcRect l="0" r="0" t="0" b="0"/>
          <a:stretch/>
        </p:blipFill>
        <p:spPr>
          <a:xfrm>
            <a:off x="4343400" y="1828800"/>
            <a:ext cx="3429000" cy="4023360"/>
          </a:xfrm>
          <a:prstGeom prst="rect">
            <a:avLst/>
          </a:prstGeom>
        </p:spPr>
      </p:pic>
      <p:sp>
        <p:nvSpPr>
          <p:cNvPr id="10" name="Text 4"/>
          <p:cNvSpPr txBox="1"/>
          <p:nvPr/>
        </p:nvSpPr>
        <p:spPr>
          <a:xfrm>
            <a:off x="4617720" y="4343400"/>
            <a:ext cx="2880360" cy="594360"/>
          </a:xfrm>
          <a:prstGeom prst="rect">
            <a:avLst/>
          </a:prstGeom>
          <a:noFill/>
          <a:ln/>
        </p:spPr>
        <p:txBody>
          <a:bodyPr wrap="square" lIns="0" tIns="0" rIns="0" bIns="0" rtlCol="0" anchor="ctr"/>
          <a:lstStyle/>
          <a:p>
            <a:pPr indent="0" marL="0">
              <a:buNone/>
            </a:pPr>
            <a:r>
              <a:rPr lang="en-US" sz="3000" b="1" dirty="0">
                <a:solidFill>
                  <a:schemeClr val="accent2"/>
                </a:solidFill>
                <a:latin typeface="Century Gothic" pitchFamily="34" charset="0"/>
                <a:ea typeface="Century Gothic" pitchFamily="34" charset="-122"/>
                <a:cs typeface="Century Gothic" pitchFamily="34" charset="-120"/>
              </a:rPr>
              <a:t>Knowing</a:t>
            </a:r>
            <a:endParaRPr lang="en-US" sz="3000" dirty="0"/>
          </a:p>
        </p:txBody>
      </p:sp>
      <p:sp>
        <p:nvSpPr>
          <p:cNvPr id="11" name="Text 5"/>
          <p:cNvSpPr txBox="1"/>
          <p:nvPr/>
        </p:nvSpPr>
        <p:spPr>
          <a:xfrm>
            <a:off x="4617720" y="4983480"/>
            <a:ext cx="2880360" cy="685800"/>
          </a:xfrm>
          <a:prstGeom prst="rect">
            <a:avLst/>
          </a:prstGeom>
          <a:noFill/>
          <a:ln/>
        </p:spPr>
        <p:txBody>
          <a:bodyPr wrap="square" lIns="0" tIns="0" rIns="0" bIns="0" rtlCol="0" anchor="t"/>
          <a:lstStyle/>
          <a:p>
            <a:pPr indent="0" marL="0">
              <a:buNone/>
            </a:pPr>
            <a:r>
              <a:rPr lang="en-US" sz="1600" dirty="0">
                <a:solidFill>
                  <a:schemeClr val="bg1"/>
                </a:solidFill>
              </a:rPr>
              <a:t>a mental model so sharp you sense the bug</a:t>
            </a:r>
            <a:endParaRPr lang="en-US" sz="1600" dirty="0"/>
          </a:p>
        </p:txBody>
      </p:sp>
      <p:pic>
        <p:nvPicPr>
          <p:cNvPr id="12" name="Mattering art" descr="C:\Code\kolatts.github.io\talks\joy-of-engineering\images\joy-mattering.jpg">    </p:cNvPr>
          <p:cNvPicPr>
            <a:picLocks noChangeAspect="1"/>
          </p:cNvPicPr>
          <p:nvPr/>
        </p:nvPicPr>
        <p:blipFill>
          <a:blip r:embed="rId5"/>
          <a:srcRect l="0" r="0" t="0" b="0"/>
          <a:stretch/>
        </p:blipFill>
        <p:spPr>
          <a:xfrm>
            <a:off x="8046720" y="1828800"/>
            <a:ext cx="3429000" cy="4023360"/>
          </a:xfrm>
          <a:prstGeom prst="rect">
            <a:avLst/>
          </a:prstGeom>
        </p:spPr>
      </p:pic>
      <p:pic>
        <p:nvPicPr>
          <p:cNvPr id="13" name="Mattering scrim" descr="preencoded.png">    </p:cNvPr>
          <p:cNvPicPr>
            <a:picLocks noChangeAspect="1"/>
          </p:cNvPicPr>
          <p:nvPr/>
        </p:nvPicPr>
        <p:blipFill>
          <a:blip r:embed="rId6"/>
          <a:srcRect l="0" r="0" t="0" b="0"/>
          <a:stretch/>
        </p:blipFill>
        <p:spPr>
          <a:xfrm>
            <a:off x="8046720" y="1828800"/>
            <a:ext cx="3429000" cy="4023360"/>
          </a:xfrm>
          <a:prstGeom prst="rect">
            <a:avLst/>
          </a:prstGeom>
        </p:spPr>
      </p:pic>
      <p:sp>
        <p:nvSpPr>
          <p:cNvPr id="14" name="Text 6"/>
          <p:cNvSpPr txBox="1"/>
          <p:nvPr/>
        </p:nvSpPr>
        <p:spPr>
          <a:xfrm>
            <a:off x="8321040" y="4343400"/>
            <a:ext cx="2880360" cy="594360"/>
          </a:xfrm>
          <a:prstGeom prst="rect">
            <a:avLst/>
          </a:prstGeom>
          <a:noFill/>
          <a:ln/>
        </p:spPr>
        <p:txBody>
          <a:bodyPr wrap="square" lIns="0" tIns="0" rIns="0" bIns="0" rtlCol="0" anchor="ctr"/>
          <a:lstStyle/>
          <a:p>
            <a:pPr indent="0" marL="0">
              <a:buNone/>
            </a:pPr>
            <a:r>
              <a:rPr lang="en-US" sz="3000" b="1" dirty="0">
                <a:solidFill>
                  <a:schemeClr val="accent6"/>
                </a:solidFill>
                <a:latin typeface="Century Gothic" pitchFamily="34" charset="0"/>
                <a:ea typeface="Century Gothic" pitchFamily="34" charset="-122"/>
                <a:cs typeface="Century Gothic" pitchFamily="34" charset="-120"/>
              </a:rPr>
              <a:t>Mattering</a:t>
            </a:r>
            <a:endParaRPr lang="en-US" sz="3000" dirty="0"/>
          </a:p>
        </p:txBody>
      </p:sp>
      <p:sp>
        <p:nvSpPr>
          <p:cNvPr id="15" name="Text 7"/>
          <p:cNvSpPr txBox="1"/>
          <p:nvPr/>
        </p:nvSpPr>
        <p:spPr>
          <a:xfrm>
            <a:off x="8321040" y="4983480"/>
            <a:ext cx="2880360" cy="685800"/>
          </a:xfrm>
          <a:prstGeom prst="rect">
            <a:avLst/>
          </a:prstGeom>
          <a:noFill/>
          <a:ln/>
        </p:spPr>
        <p:txBody>
          <a:bodyPr wrap="square" lIns="0" tIns="0" rIns="0" bIns="0" rtlCol="0" anchor="t"/>
          <a:lstStyle/>
          <a:p>
            <a:pPr indent="0" marL="0">
              <a:buNone/>
            </a:pPr>
            <a:r>
              <a:rPr lang="en-US" sz="1600" dirty="0">
                <a:solidFill>
                  <a:schemeClr val="bg1"/>
                </a:solidFill>
              </a:rPr>
              <a:t>being the expert it all relies on</a:t>
            </a:r>
            <a:endParaRPr lang="en-US" sz="1600" dirty="0"/>
          </a:p>
        </p:txBody>
      </p:sp>
      <p:sp>
        <p:nvSpPr>
          <p:cNvPr id="16" name="Credit"/>
          <p:cNvSpPr txBox="1"/>
          <p:nvPr/>
        </p:nvSpPr>
        <p:spPr>
          <a:xfrm>
            <a:off x="640080" y="6035040"/>
            <a:ext cx="8229600" cy="320040"/>
          </a:xfrm>
          <a:prstGeom prst="rect">
            <a:avLst/>
          </a:prstGeom>
          <a:noFill/>
          <a:ln/>
        </p:spPr>
        <p:txBody>
          <a:bodyPr wrap="square" lIns="0" tIns="0" rIns="0" bIns="0" rtlCol="0" anchor="ctr"/>
          <a:lstStyle/>
          <a:p>
            <a:pPr indent="0" marL="0">
              <a:buNone/>
            </a:pPr>
            <a:r>
              <a:rPr lang="en-US" sz="1100" dirty="0">
                <a:solidFill>
                  <a:srgbClr val="8A90A8"/>
                </a:solidFill>
              </a:rPr>
              <a:t>Addy Osmani (Anthropic), “making, knowing, or mattering” · X, Oct 9 2026</a:t>
            </a:r>
            <a:endParaRPr lang="en-US" sz="1100" dirty="0"/>
          </a:p>
        </p:txBody>
      </p:sp>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90"/>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881360" cy="365760"/>
          </a:xfrm>
          <a:prstGeom prst="rect">
            <a:avLst/>
          </a:prstGeom>
          <a:noFill/>
          <a:ln/>
        </p:spPr>
        <p:txBody>
          <a:bodyPr wrap="square" lIns="0" tIns="0" rIns="0" bIns="0" rtlCol="0"/>
          <a:lstStyle/>
          <a:p>
            <a:pPr indent="0" marL="0">
              <a:buNone/>
            </a:pPr>
            <a:r>
              <a:rPr lang="en-US" sz="1300" b="1" spc="400" kern="0" dirty="0">
                <a:solidFill>
                  <a:schemeClr val="accent1"/>
                </a:solidFill>
              </a:rPr>
              <a:t>PART III</a:t>
            </a:r>
            <a:endParaRPr lang="en-US" sz="1300" dirty="0"/>
          </a:p>
        </p:txBody>
      </p:sp>
      <p:sp>
        <p:nvSpPr>
          <p:cNvPr id="3" name="Text 0"/>
          <p:cNvSpPr/>
          <p:nvPr>
            <p:ph idx="101" type="title" hasCustomPrompt="1"/>
          </p:nvPr>
        </p:nvSpPr>
        <p:spPr>
          <a:xfrm>
            <a:off x="640080" y="777240"/>
            <a:ext cx="10881360" cy="822960"/>
          </a:xfrm>
          <a:prstGeom prst="rect">
            <a:avLst/>
          </a:prstGeom>
          <a:noFill/>
          <a:ln/>
        </p:spPr>
        <p:txBody>
          <a:bodyPr wrap="square" lIns="0" tIns="0" rIns="0" bIns="0" rtlCol="0" anchor="t"/>
          <a:lstStyle/>
          <a:p>
            <a:pPr algn="l" indent="0" marL="0">
              <a:buNone/>
            </a:pPr>
            <a:r>
              <a:rPr lang="en-US" sz="3600" b="1" dirty="0">
                <a:solidFill>
                  <a:schemeClr val="bg1"/>
                </a:solidFill>
                <a:latin typeface="Century Gothic" pitchFamily="34" charset="0"/>
                <a:ea typeface="Century Gothic" pitchFamily="34" charset="-122"/>
                <a:cs typeface="Century Gothic" pitchFamily="34" charset="-120"/>
              </a:rPr>
              <a:t>We’ve been here before</a:t>
            </a:r>
            <a:endParaRPr lang="en-US" sz="3600" dirty="0"/>
          </a:p>
        </p:txBody>
      </p:sp>
      <p:sp>
        <p:nvSpPr>
          <p:cNvPr id="4" name="Machine code ring"/>
          <p:cNvSpPr/>
          <p:nvPr/>
        </p:nvSpPr>
        <p:spPr>
          <a:xfrm>
            <a:off x="585216" y="2276856"/>
            <a:ext cx="1572768" cy="1572768"/>
          </a:xfrm>
          <a:prstGeom prst="ellipse">
            <a:avLst/>
          </a:prstGeom>
          <a:solidFill>
            <a:schemeClr val="tx2"/>
          </a:solidFill>
          <a:ln/>
        </p:spPr>
      </p:sp>
      <p:pic>
        <p:nvPicPr>
          <p:cNvPr id="5" name="Machine code photo" descr="C:\Code\kolatts.github.io\talks\joy-of-engineering\images\web-eniac.jpg">    </p:cNvPr>
          <p:cNvPicPr>
            <a:picLocks noChangeAspect="1"/>
          </p:cNvPicPr>
          <p:nvPr/>
        </p:nvPicPr>
        <p:blipFill>
          <a:blip r:embed="rId1"/>
          <a:srcRect l="0" r="0" t="0" b="0"/>
          <a:stretch/>
        </p:blipFill>
        <p:spPr>
          <a:xfrm>
            <a:off x="640080" y="2331720"/>
            <a:ext cx="1463040" cy="1463040"/>
          </a:xfrm>
          <a:prstGeom prst="ellipse">
            <a:avLst/>
          </a:prstGeom>
        </p:spPr>
      </p:pic>
      <p:sp>
        <p:nvSpPr>
          <p:cNvPr id="6" name="Text 3"/>
          <p:cNvSpPr txBox="1"/>
          <p:nvPr/>
        </p:nvSpPr>
        <p:spPr>
          <a:xfrm>
            <a:off x="411480" y="4023360"/>
            <a:ext cx="1920240" cy="685800"/>
          </a:xfrm>
          <a:prstGeom prst="rect">
            <a:avLst/>
          </a:prstGeom>
          <a:noFill/>
          <a:ln/>
        </p:spPr>
        <p:txBody>
          <a:bodyPr wrap="square" lIns="0" tIns="0" rIns="0" bIns="0" rtlCol="0" anchor="t"/>
          <a:lstStyle/>
          <a:p>
            <a:pPr algn="ctr" indent="0" marL="0">
              <a:buNone/>
            </a:pPr>
            <a:r>
              <a:rPr lang="en-US" sz="1600" b="1" dirty="0">
                <a:solidFill>
                  <a:schemeClr val="bg1"/>
                </a:solidFill>
              </a:rPr>
              <a:t>Machine code</a:t>
            </a:r>
            <a:endParaRPr lang="en-US" sz="1600" dirty="0"/>
          </a:p>
        </p:txBody>
      </p:sp>
      <p:pic>
        <p:nvPicPr>
          <p:cNvPr id="7" name="Arrow" descr="preencoded.png">    </p:cNvPr>
          <p:cNvPicPr>
            <a:picLocks noChangeAspect="1"/>
          </p:cNvPicPr>
          <p:nvPr/>
        </p:nvPicPr>
        <p:blipFill>
          <a:blip r:embed="rId2"/>
          <a:stretch>
            <a:fillRect/>
          </a:stretch>
        </p:blipFill>
        <p:spPr>
          <a:xfrm>
            <a:off x="2197578" y="2944368"/>
            <a:ext cx="237744" cy="237744"/>
          </a:xfrm>
          <a:prstGeom prst="rect">
            <a:avLst/>
          </a:prstGeom>
        </p:spPr>
      </p:pic>
      <p:sp>
        <p:nvSpPr>
          <p:cNvPr id="8" name="Assembly ring"/>
          <p:cNvSpPr/>
          <p:nvPr/>
        </p:nvSpPr>
        <p:spPr>
          <a:xfrm>
            <a:off x="2474915" y="2276856"/>
            <a:ext cx="1572768" cy="1572768"/>
          </a:xfrm>
          <a:prstGeom prst="ellipse">
            <a:avLst/>
          </a:prstGeom>
          <a:solidFill>
            <a:schemeClr val="tx2"/>
          </a:solidFill>
          <a:ln/>
        </p:spPr>
      </p:sp>
      <p:pic>
        <p:nvPicPr>
          <p:cNvPr id="9" name="Assembly photo" descr="C:\Code\kolatts.github.io\talks\joy-of-engineering\images\web-hamilton.jpg">    </p:cNvPr>
          <p:cNvPicPr>
            <a:picLocks noChangeAspect="1"/>
          </p:cNvPicPr>
          <p:nvPr/>
        </p:nvPicPr>
        <p:blipFill>
          <a:blip r:embed="rId3"/>
          <a:srcRect l="0" r="0" t="0" b="0"/>
          <a:stretch/>
        </p:blipFill>
        <p:spPr>
          <a:xfrm>
            <a:off x="2529779" y="2331720"/>
            <a:ext cx="1463040" cy="1463040"/>
          </a:xfrm>
          <a:prstGeom prst="ellipse">
            <a:avLst/>
          </a:prstGeom>
        </p:spPr>
      </p:pic>
      <p:sp>
        <p:nvSpPr>
          <p:cNvPr id="10" name="Text 5"/>
          <p:cNvSpPr txBox="1"/>
          <p:nvPr/>
        </p:nvSpPr>
        <p:spPr>
          <a:xfrm>
            <a:off x="2301179" y="4023360"/>
            <a:ext cx="1920240" cy="685800"/>
          </a:xfrm>
          <a:prstGeom prst="rect">
            <a:avLst/>
          </a:prstGeom>
          <a:noFill/>
          <a:ln/>
        </p:spPr>
        <p:txBody>
          <a:bodyPr wrap="square" lIns="0" tIns="0" rIns="0" bIns="0" rtlCol="0" anchor="t"/>
          <a:lstStyle/>
          <a:p>
            <a:pPr algn="ctr" indent="0" marL="0">
              <a:buNone/>
            </a:pPr>
            <a:r>
              <a:rPr lang="en-US" sz="1600" b="1" dirty="0">
                <a:solidFill>
                  <a:schemeClr val="bg1"/>
                </a:solidFill>
              </a:rPr>
              <a:t>Assembly</a:t>
            </a:r>
            <a:endParaRPr lang="en-US" sz="1600" dirty="0"/>
          </a:p>
        </p:txBody>
      </p:sp>
      <p:pic>
        <p:nvPicPr>
          <p:cNvPr id="11" name="Arrow" descr="preencoded.png">    </p:cNvPr>
          <p:cNvPicPr>
            <a:picLocks noChangeAspect="1"/>
          </p:cNvPicPr>
          <p:nvPr/>
        </p:nvPicPr>
        <p:blipFill>
          <a:blip r:embed="rId4"/>
          <a:stretch>
            <a:fillRect/>
          </a:stretch>
        </p:blipFill>
        <p:spPr>
          <a:xfrm>
            <a:off x="4087277" y="2944368"/>
            <a:ext cx="237744" cy="237744"/>
          </a:xfrm>
          <a:prstGeom prst="rect">
            <a:avLst/>
          </a:prstGeom>
        </p:spPr>
      </p:pic>
      <p:sp>
        <p:nvSpPr>
          <p:cNvPr id="12" name="High-level languages ring"/>
          <p:cNvSpPr/>
          <p:nvPr/>
        </p:nvSpPr>
        <p:spPr>
          <a:xfrm>
            <a:off x="4364614" y="2276856"/>
            <a:ext cx="1572768" cy="1572768"/>
          </a:xfrm>
          <a:prstGeom prst="ellipse">
            <a:avLst/>
          </a:prstGeom>
          <a:solidFill>
            <a:schemeClr val="tx2"/>
          </a:solidFill>
          <a:ln/>
        </p:spPr>
      </p:sp>
      <p:pic>
        <p:nvPicPr>
          <p:cNvPr id="13" name="High-level languages photo" descr="C:\Code\kolatts.github.io\talks\joy-of-engineering\images\web-hopper.jpg">    </p:cNvPr>
          <p:cNvPicPr>
            <a:picLocks noChangeAspect="1"/>
          </p:cNvPicPr>
          <p:nvPr/>
        </p:nvPicPr>
        <p:blipFill>
          <a:blip r:embed="rId5"/>
          <a:srcRect l="0" r="0" t="0" b="0"/>
          <a:stretch/>
        </p:blipFill>
        <p:spPr>
          <a:xfrm>
            <a:off x="4419478" y="2331720"/>
            <a:ext cx="1463040" cy="1463040"/>
          </a:xfrm>
          <a:prstGeom prst="ellipse">
            <a:avLst/>
          </a:prstGeom>
        </p:spPr>
      </p:pic>
      <p:sp>
        <p:nvSpPr>
          <p:cNvPr id="14" name="Text 7"/>
          <p:cNvSpPr txBox="1"/>
          <p:nvPr/>
        </p:nvSpPr>
        <p:spPr>
          <a:xfrm>
            <a:off x="4190878" y="4023360"/>
            <a:ext cx="1920240" cy="685800"/>
          </a:xfrm>
          <a:prstGeom prst="rect">
            <a:avLst/>
          </a:prstGeom>
          <a:noFill/>
          <a:ln/>
        </p:spPr>
        <p:txBody>
          <a:bodyPr wrap="square" lIns="0" tIns="0" rIns="0" bIns="0" rtlCol="0" anchor="t"/>
          <a:lstStyle/>
          <a:p>
            <a:pPr algn="ctr" indent="0" marL="0">
              <a:buNone/>
            </a:pPr>
            <a:r>
              <a:rPr lang="en-US" sz="1600" b="1" dirty="0">
                <a:solidFill>
                  <a:schemeClr val="bg1"/>
                </a:solidFill>
              </a:rPr>
              <a:t>High-level languages</a:t>
            </a:r>
            <a:endParaRPr lang="en-US" sz="1600" dirty="0"/>
          </a:p>
        </p:txBody>
      </p:sp>
      <p:pic>
        <p:nvPicPr>
          <p:cNvPr id="15" name="Arrow" descr="preencoded.png">    </p:cNvPr>
          <p:cNvPicPr>
            <a:picLocks noChangeAspect="1"/>
          </p:cNvPicPr>
          <p:nvPr/>
        </p:nvPicPr>
        <p:blipFill>
          <a:blip r:embed="rId6"/>
          <a:stretch>
            <a:fillRect/>
          </a:stretch>
        </p:blipFill>
        <p:spPr>
          <a:xfrm>
            <a:off x="5976976" y="2944368"/>
            <a:ext cx="237744" cy="237744"/>
          </a:xfrm>
          <a:prstGeom prst="rect">
            <a:avLst/>
          </a:prstGeom>
        </p:spPr>
      </p:pic>
      <p:sp>
        <p:nvSpPr>
          <p:cNvPr id="16" name="Frameworks ring"/>
          <p:cNvSpPr/>
          <p:nvPr/>
        </p:nvSpPr>
        <p:spPr>
          <a:xfrm>
            <a:off x="6254313" y="2276856"/>
            <a:ext cx="1572768" cy="1572768"/>
          </a:xfrm>
          <a:prstGeom prst="ellipse">
            <a:avLst/>
          </a:prstGeom>
          <a:solidFill>
            <a:schemeClr val="tx2"/>
          </a:solidFill>
          <a:ln/>
        </p:spPr>
      </p:sp>
      <p:pic>
        <p:nvPicPr>
          <p:cNvPr id="17" name="Frameworks photo" descr="C:\Code\kolatts.github.io\talks\joy-of-engineering\images\web-lego.jpg">    </p:cNvPr>
          <p:cNvPicPr>
            <a:picLocks noChangeAspect="1"/>
          </p:cNvPicPr>
          <p:nvPr/>
        </p:nvPicPr>
        <p:blipFill>
          <a:blip r:embed="rId7"/>
          <a:srcRect l="0" r="0" t="0" b="0"/>
          <a:stretch/>
        </p:blipFill>
        <p:spPr>
          <a:xfrm>
            <a:off x="6309177" y="2331720"/>
            <a:ext cx="1463040" cy="1463040"/>
          </a:xfrm>
          <a:prstGeom prst="ellipse">
            <a:avLst/>
          </a:prstGeom>
        </p:spPr>
      </p:pic>
      <p:sp>
        <p:nvSpPr>
          <p:cNvPr id="18" name="Text 9"/>
          <p:cNvSpPr txBox="1"/>
          <p:nvPr/>
        </p:nvSpPr>
        <p:spPr>
          <a:xfrm>
            <a:off x="6080577" y="4023360"/>
            <a:ext cx="1920240" cy="685800"/>
          </a:xfrm>
          <a:prstGeom prst="rect">
            <a:avLst/>
          </a:prstGeom>
          <a:noFill/>
          <a:ln/>
        </p:spPr>
        <p:txBody>
          <a:bodyPr wrap="square" lIns="0" tIns="0" rIns="0" bIns="0" rtlCol="0" anchor="t"/>
          <a:lstStyle/>
          <a:p>
            <a:pPr algn="ctr" indent="0" marL="0">
              <a:buNone/>
            </a:pPr>
            <a:r>
              <a:rPr lang="en-US" sz="1600" b="1" dirty="0">
                <a:solidFill>
                  <a:schemeClr val="bg1"/>
                </a:solidFill>
              </a:rPr>
              <a:t>Frameworks</a:t>
            </a:r>
            <a:endParaRPr lang="en-US" sz="1600" dirty="0"/>
          </a:p>
        </p:txBody>
      </p:sp>
      <p:pic>
        <p:nvPicPr>
          <p:cNvPr id="19" name="Arrow" descr="preencoded.png">    </p:cNvPr>
          <p:cNvPicPr>
            <a:picLocks noChangeAspect="1"/>
          </p:cNvPicPr>
          <p:nvPr/>
        </p:nvPicPr>
        <p:blipFill>
          <a:blip r:embed="rId8"/>
          <a:stretch>
            <a:fillRect/>
          </a:stretch>
        </p:blipFill>
        <p:spPr>
          <a:xfrm>
            <a:off x="7866675" y="2944368"/>
            <a:ext cx="237744" cy="237744"/>
          </a:xfrm>
          <a:prstGeom prst="rect">
            <a:avLst/>
          </a:prstGeom>
        </p:spPr>
      </p:pic>
      <p:sp>
        <p:nvSpPr>
          <p:cNvPr id="20" name="Cloud ring"/>
          <p:cNvSpPr/>
          <p:nvPr/>
        </p:nvSpPr>
        <p:spPr>
          <a:xfrm>
            <a:off x="8144012" y="2276856"/>
            <a:ext cx="1572768" cy="1572768"/>
          </a:xfrm>
          <a:prstGeom prst="ellipse">
            <a:avLst/>
          </a:prstGeom>
          <a:solidFill>
            <a:schemeClr val="tx2"/>
          </a:solidFill>
          <a:ln/>
        </p:spPr>
      </p:sp>
      <p:pic>
        <p:nvPicPr>
          <p:cNvPr id="21" name="Cloud photo" descr="C:\Code\kolatts.github.io\talks\joy-of-engineering\images\web-datacenter.jpg">    </p:cNvPr>
          <p:cNvPicPr>
            <a:picLocks noChangeAspect="1"/>
          </p:cNvPicPr>
          <p:nvPr/>
        </p:nvPicPr>
        <p:blipFill>
          <a:blip r:embed="rId9"/>
          <a:srcRect l="0" r="0" t="0" b="0"/>
          <a:stretch/>
        </p:blipFill>
        <p:spPr>
          <a:xfrm>
            <a:off x="8198876" y="2331720"/>
            <a:ext cx="1463040" cy="1463040"/>
          </a:xfrm>
          <a:prstGeom prst="ellipse">
            <a:avLst/>
          </a:prstGeom>
        </p:spPr>
      </p:pic>
      <p:sp>
        <p:nvSpPr>
          <p:cNvPr id="22" name="Text 11"/>
          <p:cNvSpPr txBox="1"/>
          <p:nvPr/>
        </p:nvSpPr>
        <p:spPr>
          <a:xfrm>
            <a:off x="7970276" y="4023360"/>
            <a:ext cx="1920240" cy="685800"/>
          </a:xfrm>
          <a:prstGeom prst="rect">
            <a:avLst/>
          </a:prstGeom>
          <a:noFill/>
          <a:ln/>
        </p:spPr>
        <p:txBody>
          <a:bodyPr wrap="square" lIns="0" tIns="0" rIns="0" bIns="0" rtlCol="0" anchor="t"/>
          <a:lstStyle/>
          <a:p>
            <a:pPr algn="ctr" indent="0" marL="0">
              <a:buNone/>
            </a:pPr>
            <a:r>
              <a:rPr lang="en-US" sz="1600" b="1" dirty="0">
                <a:solidFill>
                  <a:schemeClr val="bg1"/>
                </a:solidFill>
              </a:rPr>
              <a:t>Cloud</a:t>
            </a:r>
            <a:endParaRPr lang="en-US" sz="1600" dirty="0"/>
          </a:p>
        </p:txBody>
      </p:sp>
      <p:pic>
        <p:nvPicPr>
          <p:cNvPr id="23" name="Arrow" descr="preencoded.png">    </p:cNvPr>
          <p:cNvPicPr>
            <a:picLocks noChangeAspect="1"/>
          </p:cNvPicPr>
          <p:nvPr/>
        </p:nvPicPr>
        <p:blipFill>
          <a:blip r:embed="rId10"/>
          <a:stretch>
            <a:fillRect/>
          </a:stretch>
        </p:blipFill>
        <p:spPr>
          <a:xfrm>
            <a:off x="9756374" y="2944368"/>
            <a:ext cx="237744" cy="237744"/>
          </a:xfrm>
          <a:prstGeom prst="rect">
            <a:avLst/>
          </a:prstGeom>
        </p:spPr>
      </p:pic>
      <p:sp>
        <p:nvSpPr>
          <p:cNvPr id="24" name="AI agents ring"/>
          <p:cNvSpPr/>
          <p:nvPr/>
        </p:nvSpPr>
        <p:spPr>
          <a:xfrm>
            <a:off x="10033711" y="2276856"/>
            <a:ext cx="1572768" cy="1572768"/>
          </a:xfrm>
          <a:prstGeom prst="ellipse">
            <a:avLst/>
          </a:prstGeom>
          <a:solidFill>
            <a:schemeClr val="accent1"/>
          </a:solidFill>
          <a:ln/>
        </p:spPr>
      </p:sp>
      <p:pic>
        <p:nvPicPr>
          <p:cNvPr id="25" name="AI agents photo" descr="C:\Code\kolatts.github.io\talks\joy-of-engineering\images\ai-agents.jpg">    </p:cNvPr>
          <p:cNvPicPr>
            <a:picLocks noChangeAspect="1"/>
          </p:cNvPicPr>
          <p:nvPr/>
        </p:nvPicPr>
        <p:blipFill>
          <a:blip r:embed="rId11"/>
          <a:srcRect l="0" r="0" t="0" b="0"/>
          <a:stretch/>
        </p:blipFill>
        <p:spPr>
          <a:xfrm>
            <a:off x="10088575" y="2331720"/>
            <a:ext cx="1463040" cy="1463040"/>
          </a:xfrm>
          <a:prstGeom prst="ellipse">
            <a:avLst/>
          </a:prstGeom>
        </p:spPr>
      </p:pic>
      <p:sp>
        <p:nvSpPr>
          <p:cNvPr id="26" name="Text 13"/>
          <p:cNvSpPr txBox="1"/>
          <p:nvPr/>
        </p:nvSpPr>
        <p:spPr>
          <a:xfrm>
            <a:off x="9859975" y="4023360"/>
            <a:ext cx="1920240" cy="685800"/>
          </a:xfrm>
          <a:prstGeom prst="rect">
            <a:avLst/>
          </a:prstGeom>
          <a:noFill/>
          <a:ln/>
        </p:spPr>
        <p:txBody>
          <a:bodyPr wrap="square" lIns="0" tIns="0" rIns="0" bIns="0" rtlCol="0" anchor="t"/>
          <a:lstStyle/>
          <a:p>
            <a:pPr algn="ctr" indent="0" marL="0">
              <a:buNone/>
            </a:pPr>
            <a:r>
              <a:rPr lang="en-US" sz="1600" b="1" dirty="0">
                <a:solidFill>
                  <a:schemeClr val="accent1"/>
                </a:solidFill>
              </a:rPr>
              <a:t>AI agents</a:t>
            </a:r>
            <a:endParaRPr lang="en-US" sz="1600" dirty="0"/>
          </a:p>
        </p:txBody>
      </p:sp>
      <p:sp>
        <p:nvSpPr>
          <p:cNvPr id="27" name="Takeaway"/>
          <p:cNvSpPr txBox="1"/>
          <p:nvPr/>
        </p:nvSpPr>
        <p:spPr>
          <a:xfrm>
            <a:off x="640080" y="5440680"/>
            <a:ext cx="10881360" cy="457200"/>
          </a:xfrm>
          <a:prstGeom prst="rect">
            <a:avLst/>
          </a:prstGeom>
          <a:noFill/>
          <a:ln/>
        </p:spPr>
        <p:txBody>
          <a:bodyPr wrap="square" lIns="0" tIns="0" rIns="0" bIns="0" rtlCol="0" anchor="ctr"/>
          <a:lstStyle/>
          <a:p>
            <a:pPr algn="ctr" indent="0" marL="0">
              <a:buNone/>
            </a:pPr>
            <a:r>
              <a:rPr lang="en-US" sz="2000" dirty="0">
                <a:solidFill>
                  <a:schemeClr val="bg2"/>
                </a:solidFill>
              </a:rPr>
              <a:t>Less to execute by hand.  </a:t>
            </a:r>
            <a:pPr algn="ctr" indent="0" marL="0">
              <a:buNone/>
            </a:pPr>
            <a:r>
              <a:rPr lang="en-US" sz="2000" b="1" dirty="0">
                <a:solidFill>
                  <a:schemeClr val="accent1"/>
                </a:solidFill>
              </a:rPr>
              <a:t>More we could build.</a:t>
            </a:r>
            <a:endParaRPr lang="en-US" sz="2000" dirty="0"/>
          </a:p>
        </p:txBody>
      </p:sp>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90"/>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Margaret Hamilton photo" descr="C:\Code\kolatts.github.io\talks\joy-of-engineering\images\web-hamilton.jpg">    </p:cNvPr>
          <p:cNvPicPr>
            <a:picLocks noChangeAspect="1"/>
          </p:cNvPicPr>
          <p:nvPr/>
        </p:nvPicPr>
        <p:blipFill>
          <a:blip r:embed="rId1"/>
          <a:srcRect l="0" r="0" t="0" b="0"/>
          <a:stretch/>
        </p:blipFill>
        <p:spPr>
          <a:xfrm>
            <a:off x="6766560" y="0"/>
            <a:ext cx="5425135" cy="6858000"/>
          </a:xfrm>
          <a:prstGeom prst="rect">
            <a:avLst/>
          </a:prstGeom>
        </p:spPr>
      </p:pic>
      <p:sp>
        <p:nvSpPr>
          <p:cNvPr id="3" name="Text 0"/>
          <p:cNvSpPr/>
          <p:nvPr>
            <p:ph idx="100" type="body" hasCustomPrompt="1"/>
          </p:nvPr>
        </p:nvSpPr>
        <p:spPr>
          <a:xfrm>
            <a:off x="640080" y="1920240"/>
            <a:ext cx="5852160" cy="411480"/>
          </a:xfrm>
          <a:prstGeom prst="rect">
            <a:avLst/>
          </a:prstGeom>
          <a:noFill/>
          <a:ln/>
        </p:spPr>
        <p:txBody>
          <a:bodyPr wrap="square" lIns="0" tIns="0" rIns="0" bIns="0" rtlCol="0" anchor="b"/>
          <a:lstStyle/>
          <a:p>
            <a:pPr indent="0" marL="0">
              <a:buNone/>
            </a:pPr>
            <a:r>
              <a:rPr lang="en-US" sz="1400" b="1" spc="400" kern="0" dirty="0">
                <a:solidFill>
                  <a:schemeClr val="accent1"/>
                </a:solidFill>
              </a:rPr>
              <a:t>PART III</a:t>
            </a:r>
            <a:endParaRPr lang="en-US" sz="1400" dirty="0"/>
          </a:p>
        </p:txBody>
      </p:sp>
      <p:sp>
        <p:nvSpPr>
          <p:cNvPr id="4" name="Text 0"/>
          <p:cNvSpPr/>
          <p:nvPr>
            <p:ph idx="101" type="title" hasCustomPrompt="1"/>
          </p:nvPr>
        </p:nvSpPr>
        <p:spPr>
          <a:xfrm>
            <a:off x="640080" y="2377440"/>
            <a:ext cx="6583680" cy="2103120"/>
          </a:xfrm>
          <a:prstGeom prst="rect">
            <a:avLst/>
          </a:prstGeom>
          <a:noFill/>
          <a:ln/>
        </p:spPr>
        <p:txBody>
          <a:bodyPr wrap="square" lIns="0" tIns="0" rIns="0" bIns="0" rtlCol="0" anchor="t"/>
          <a:lstStyle/>
          <a:p>
            <a:pPr algn="l" indent="0" marL="0">
              <a:buNone/>
            </a:pPr>
            <a:r>
              <a:rPr lang="en-US" sz="4400" b="1" dirty="0">
                <a:solidFill>
                  <a:schemeClr val="bg1"/>
                </a:solidFill>
                <a:latin typeface="Century Gothic" pitchFamily="34" charset="0"/>
                <a:ea typeface="Century Gothic" pitchFamily="34" charset="-122"/>
                <a:cs typeface="Century Gothic" pitchFamily="34" charset="-120"/>
              </a:rPr>
              <a:t>Every abstraction</a:t>
            </a:r>
            <a:endParaRPr lang="en-US" sz="4400" dirty="0"/>
          </a:p>
          <a:p>
            <a:pPr algn="l" indent="0" marL="0">
              <a:buNone/>
            </a:pPr>
            <a:r>
              <a:rPr lang="en-US" sz="4400" b="1" dirty="0">
                <a:solidFill>
                  <a:schemeClr val="bg1"/>
                </a:solidFill>
                <a:latin typeface="Century Gothic" pitchFamily="34" charset="0"/>
                <a:ea typeface="Century Gothic" pitchFamily="34" charset="-122"/>
                <a:cs typeface="Century Gothic" pitchFamily="34" charset="-120"/>
              </a:rPr>
              <a:t>changes what</a:t>
            </a:r>
            <a:endParaRPr lang="en-US" sz="4400" dirty="0"/>
          </a:p>
          <a:p>
            <a:pPr algn="l" indent="0" marL="0">
              <a:buNone/>
            </a:pPr>
            <a:r>
              <a:rPr lang="en-US" sz="4400" b="1" dirty="0">
                <a:solidFill>
                  <a:schemeClr val="bg1"/>
                </a:solidFill>
                <a:latin typeface="Century Gothic" pitchFamily="34" charset="0"/>
                <a:ea typeface="Century Gothic" pitchFamily="34" charset="-122"/>
                <a:cs typeface="Century Gothic" pitchFamily="34" charset="-120"/>
              </a:rPr>
              <a:t>mastery means</a:t>
            </a:r>
            <a:endParaRPr lang="en-US" sz="4400" dirty="0"/>
          </a:p>
        </p:txBody>
      </p:sp>
      <p:sp>
        <p:nvSpPr>
          <p:cNvPr id="5" name="Text 0"/>
          <p:cNvSpPr/>
          <p:nvPr>
            <p:ph idx="102" type="body" hasCustomPrompt="1"/>
          </p:nvPr>
        </p:nvSpPr>
        <p:spPr>
          <a:xfrm>
            <a:off x="640080" y="4572000"/>
            <a:ext cx="5486400" cy="1097280"/>
          </a:xfrm>
          <a:prstGeom prst="rect">
            <a:avLst/>
          </a:prstGeom>
          <a:noFill/>
          <a:ln/>
        </p:spPr>
        <p:txBody>
          <a:bodyPr wrap="square" lIns="0" tIns="0" rIns="0" bIns="0" rtlCol="0" anchor="t"/>
          <a:lstStyle/>
          <a:p>
            <a:pPr indent="0" marL="0">
              <a:buNone/>
            </a:pPr>
            <a:r>
              <a:rPr lang="en-US" sz="2000" dirty="0">
                <a:solidFill>
                  <a:schemeClr val="bg2"/>
                </a:solidFill>
              </a:rPr>
              <a:t>Not whether mastery matters.</a:t>
            </a:r>
            <a:endParaRPr lang="en-US" sz="2000" dirty="0"/>
          </a:p>
        </p:txBody>
      </p:sp>
      <p:sp>
        <p:nvSpPr>
          <p:cNvPr id="6" name="Photo credit"/>
          <p:cNvSpPr txBox="1"/>
          <p:nvPr/>
        </p:nvSpPr>
        <p:spPr>
          <a:xfrm>
            <a:off x="6949440" y="6446520"/>
            <a:ext cx="5029200" cy="274320"/>
          </a:xfrm>
          <a:prstGeom prst="rect">
            <a:avLst/>
          </a:prstGeom>
          <a:noFill/>
          <a:ln/>
        </p:spPr>
        <p:txBody>
          <a:bodyPr wrap="square" lIns="0" tIns="0" rIns="0" bIns="0" rtlCol="0" anchor="ctr"/>
          <a:lstStyle/>
          <a:p>
            <a:pPr indent="0" marL="0">
              <a:buNone/>
            </a:pPr>
            <a:r>
              <a:rPr lang="en-US" sz="1000" dirty="0">
                <a:solidFill>
                  <a:srgbClr val="FFFFFF"/>
                </a:solidFill>
              </a:rPr>
              <a:t>Margaret Hamilton with the Apollo guidance code · NASA, public domain</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881360" cy="365760"/>
          </a:xfrm>
          <a:prstGeom prst="rect">
            <a:avLst/>
          </a:prstGeom>
          <a:noFill/>
          <a:ln/>
        </p:spPr>
        <p:txBody>
          <a:bodyPr wrap="square" lIns="0" tIns="0" rIns="0" bIns="0" rtlCol="0"/>
          <a:lstStyle/>
          <a:p>
            <a:pPr indent="0" marL="0">
              <a:buNone/>
            </a:pPr>
            <a:r>
              <a:rPr lang="en-US" sz="1300" b="1" spc="400" kern="0" dirty="0">
                <a:solidFill>
                  <a:schemeClr val="accent1"/>
                </a:solidFill>
              </a:rPr>
              <a:t>PART III · BUT THIS TIME</a:t>
            </a:r>
            <a:endParaRPr lang="en-US" sz="1300" dirty="0"/>
          </a:p>
        </p:txBody>
      </p:sp>
      <p:sp>
        <p:nvSpPr>
          <p:cNvPr id="3" name="Text 0"/>
          <p:cNvSpPr/>
          <p:nvPr>
            <p:ph idx="101" type="title" hasCustomPrompt="1"/>
          </p:nvPr>
        </p:nvSpPr>
        <p:spPr>
          <a:xfrm>
            <a:off x="640080" y="777240"/>
            <a:ext cx="10881360" cy="822960"/>
          </a:xfrm>
          <a:prstGeom prst="rect">
            <a:avLst/>
          </a:prstGeom>
          <a:noFill/>
          <a:ln/>
        </p:spPr>
        <p:txBody>
          <a:bodyPr wrap="square" lIns="0" tIns="0" rIns="0" bIns="0" rtlCol="0" anchor="t"/>
          <a:lstStyle/>
          <a:p>
            <a:pPr algn="l" indent="0" marL="0">
              <a:buNone/>
            </a:pPr>
            <a:r>
              <a:rPr lang="en-US" sz="3600" b="1" dirty="0">
                <a:solidFill>
                  <a:schemeClr val="bg1"/>
                </a:solidFill>
                <a:latin typeface="Century Gothic" pitchFamily="34" charset="0"/>
                <a:ea typeface="Century Gothic" pitchFamily="34" charset="-122"/>
                <a:cs typeface="Century Gothic" pitchFamily="34" charset="-120"/>
              </a:rPr>
              <a:t>What’s actually different</a:t>
            </a:r>
            <a:endParaRPr lang="en-US" sz="3600" dirty="0"/>
          </a:p>
        </p:txBody>
      </p:sp>
      <p:pic>
        <p:nvPicPr>
          <p:cNvPr id="4" name="Agents art" descr="C:\Code\kolatts.github.io\talks\joy-of-engineering\images\ai-agents.jpg">    </p:cNvPr>
          <p:cNvPicPr>
            <a:picLocks noChangeAspect="1"/>
          </p:cNvPicPr>
          <p:nvPr/>
        </p:nvPicPr>
        <p:blipFill>
          <a:blip r:embed="rId1"/>
          <a:srcRect l="0" r="0" t="0" b="0"/>
          <a:stretch/>
        </p:blipFill>
        <p:spPr>
          <a:xfrm>
            <a:off x="640080" y="1828800"/>
            <a:ext cx="6035040" cy="4206240"/>
          </a:xfrm>
          <a:prstGeom prst="rect">
            <a:avLst/>
          </a:prstGeom>
        </p:spPr>
      </p:pic>
      <p:sp>
        <p:nvSpPr>
          <p:cNvPr id="5" name="Text 2"/>
          <p:cNvSpPr txBox="1"/>
          <p:nvPr/>
        </p:nvSpPr>
        <p:spPr>
          <a:xfrm>
            <a:off x="7223760" y="2103120"/>
            <a:ext cx="4297680" cy="365760"/>
          </a:xfrm>
          <a:prstGeom prst="rect">
            <a:avLst/>
          </a:prstGeom>
          <a:noFill/>
          <a:ln/>
        </p:spPr>
        <p:txBody>
          <a:bodyPr wrap="square" lIns="0" tIns="0" rIns="0" bIns="0" rtlCol="0" anchor="ctr"/>
          <a:lstStyle/>
          <a:p>
            <a:pPr indent="0" marL="0">
              <a:buNone/>
            </a:pPr>
            <a:r>
              <a:rPr lang="en-US" sz="1400" b="1" spc="400" kern="0" dirty="0">
                <a:solidFill>
                  <a:srgbClr val="8A90A8"/>
                </a:solidFill>
              </a:rPr>
              <a:t>BEFORE</a:t>
            </a:r>
            <a:endParaRPr lang="en-US" sz="1400" dirty="0"/>
          </a:p>
        </p:txBody>
      </p:sp>
      <p:sp>
        <p:nvSpPr>
          <p:cNvPr id="6" name="Text 3"/>
          <p:cNvSpPr txBox="1"/>
          <p:nvPr/>
        </p:nvSpPr>
        <p:spPr>
          <a:xfrm>
            <a:off x="7223760" y="2468880"/>
            <a:ext cx="4297680" cy="822960"/>
          </a:xfrm>
          <a:prstGeom prst="rect">
            <a:avLst/>
          </a:prstGeom>
          <a:noFill/>
          <a:ln/>
        </p:spPr>
        <p:txBody>
          <a:bodyPr wrap="square" lIns="0" tIns="0" rIns="0" bIns="0" rtlCol="0" anchor="t"/>
          <a:lstStyle/>
          <a:p>
            <a:pPr indent="0" marL="0">
              <a:buNone/>
            </a:pPr>
            <a:r>
              <a:rPr lang="en-US" sz="2800" dirty="0">
                <a:solidFill>
                  <a:schemeClr val="bg2"/>
                </a:solidFill>
                <a:latin typeface="Century Gothic" pitchFamily="34" charset="0"/>
                <a:ea typeface="Century Gothic" pitchFamily="34" charset="-122"/>
                <a:cs typeface="Century Gothic" pitchFamily="34" charset="-120"/>
              </a:rPr>
              <a:t>We delegated instructions</a:t>
            </a:r>
            <a:endParaRPr lang="en-US" sz="2800" dirty="0"/>
          </a:p>
        </p:txBody>
      </p:sp>
      <p:sp>
        <p:nvSpPr>
          <p:cNvPr id="7" name="Text 4"/>
          <p:cNvSpPr txBox="1"/>
          <p:nvPr/>
        </p:nvSpPr>
        <p:spPr>
          <a:xfrm>
            <a:off x="7223760" y="3840480"/>
            <a:ext cx="4297680" cy="365760"/>
          </a:xfrm>
          <a:prstGeom prst="rect">
            <a:avLst/>
          </a:prstGeom>
          <a:noFill/>
          <a:ln/>
        </p:spPr>
        <p:txBody>
          <a:bodyPr wrap="square" lIns="0" tIns="0" rIns="0" bIns="0" rtlCol="0" anchor="ctr"/>
          <a:lstStyle/>
          <a:p>
            <a:pPr indent="0" marL="0">
              <a:buNone/>
            </a:pPr>
            <a:r>
              <a:rPr lang="en-US" sz="1400" b="1" spc="400" kern="0" dirty="0">
                <a:solidFill>
                  <a:schemeClr val="accent1"/>
                </a:solidFill>
              </a:rPr>
              <a:t>NOW</a:t>
            </a:r>
            <a:endParaRPr lang="en-US" sz="1400" dirty="0"/>
          </a:p>
        </p:txBody>
      </p:sp>
      <p:sp>
        <p:nvSpPr>
          <p:cNvPr id="8" name="Text 5"/>
          <p:cNvSpPr txBox="1"/>
          <p:nvPr/>
        </p:nvSpPr>
        <p:spPr>
          <a:xfrm>
            <a:off x="7223760" y="4206240"/>
            <a:ext cx="4297680" cy="822960"/>
          </a:xfrm>
          <a:prstGeom prst="rect">
            <a:avLst/>
          </a:prstGeom>
          <a:noFill/>
          <a:ln/>
        </p:spPr>
        <p:txBody>
          <a:bodyPr wrap="square" lIns="0" tIns="0" rIns="0" bIns="0" rtlCol="0" anchor="t"/>
          <a:lstStyle/>
          <a:p>
            <a:pPr indent="0" marL="0">
              <a:buNone/>
            </a:pPr>
            <a:r>
              <a:rPr lang="en-US" sz="2800" b="1" dirty="0">
                <a:solidFill>
                  <a:schemeClr val="bg1"/>
                </a:solidFill>
                <a:latin typeface="Century Gothic" pitchFamily="34" charset="0"/>
                <a:ea typeface="Century Gothic" pitchFamily="34" charset="-122"/>
                <a:cs typeface="Century Gothic" pitchFamily="34" charset="-120"/>
              </a:rPr>
              <a:t>We delegate decisions</a:t>
            </a:r>
            <a:endParaRPr lang="en-US" sz="2800" dirty="0"/>
          </a:p>
        </p:txBody>
      </p:sp>
      <p:sp>
        <p:nvSpPr>
          <p:cNvPr id="9" name="Text 6"/>
          <p:cNvSpPr txBox="1"/>
          <p:nvPr/>
        </p:nvSpPr>
        <p:spPr>
          <a:xfrm>
            <a:off x="7223760" y="5074920"/>
            <a:ext cx="4297680" cy="457200"/>
          </a:xfrm>
          <a:prstGeom prst="rect">
            <a:avLst/>
          </a:prstGeom>
          <a:noFill/>
          <a:ln/>
        </p:spPr>
        <p:txBody>
          <a:bodyPr wrap="square" lIns="0" tIns="0" rIns="0" bIns="0" rtlCol="0" anchor="ctr"/>
          <a:lstStyle/>
          <a:p>
            <a:pPr indent="0" marL="0">
              <a:buNone/>
            </a:pPr>
            <a:r>
              <a:rPr lang="en-US" sz="1800" i="1" dirty="0">
                <a:solidFill>
                  <a:schemeClr val="accent4"/>
                </a:solidFill>
              </a:rPr>
              <a:t>…and some of the reasoning.</a:t>
            </a:r>
            <a:endParaRPr lang="en-US" sz="1800" dirty="0"/>
          </a:p>
        </p:txBody>
      </p:sp>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90"/>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Background art" descr="C:\Code\kolatts.github.io\talks\joy-of-engineering\images\swamp-lift.jpg">    </p:cNvPr>
          <p:cNvPicPr>
            <a:picLocks noChangeAspect="1"/>
          </p:cNvPicPr>
          <p:nvPr/>
        </p:nvPicPr>
        <p:blipFill>
          <a:blip r:embed="rId1"/>
          <a:srcRect l="0" r="0" t="0" b="0"/>
          <a:stretch/>
        </p:blipFill>
        <p:spPr>
          <a:xfrm>
            <a:off x="0" y="0"/>
            <a:ext cx="12191695" cy="6858000"/>
          </a:xfrm>
          <a:prstGeom prst="rect">
            <a:avLst/>
          </a:prstGeom>
        </p:spPr>
      </p:pic>
      <p:pic>
        <p:nvPicPr>
          <p:cNvPr id="3" name="Legibility scrim" descr="preencoded.png">    </p:cNvPr>
          <p:cNvPicPr>
            <a:picLocks noChangeAspect="1"/>
          </p:cNvPicPr>
          <p:nvPr/>
        </p:nvPicPr>
        <p:blipFill>
          <a:blip r:embed="rId2"/>
          <a:stretch>
            <a:fillRect/>
          </a:stretch>
        </p:blipFill>
        <p:spPr>
          <a:xfrm>
            <a:off x="0" y="0"/>
            <a:ext cx="12191695" cy="6858000"/>
          </a:xfrm>
          <a:prstGeom prst="rect">
            <a:avLst/>
          </a:prstGeom>
        </p:spPr>
      </p:pic>
      <p:sp>
        <p:nvSpPr>
          <p:cNvPr id="4" name="Text 0"/>
          <p:cNvSpPr/>
          <p:nvPr>
            <p:ph idx="100" type="body" hasCustomPrompt="1"/>
          </p:nvPr>
        </p:nvSpPr>
        <p:spPr>
          <a:xfrm>
            <a:off x="640080" y="1920240"/>
            <a:ext cx="5852160" cy="411480"/>
          </a:xfrm>
          <a:prstGeom prst="rect">
            <a:avLst/>
          </a:prstGeom>
          <a:noFill/>
          <a:ln/>
        </p:spPr>
        <p:txBody>
          <a:bodyPr wrap="square" lIns="0" tIns="0" rIns="0" bIns="0" rtlCol="0" anchor="b"/>
          <a:lstStyle/>
          <a:p>
            <a:pPr indent="0" marL="0">
              <a:buNone/>
            </a:pPr>
            <a:r>
              <a:rPr lang="en-US" sz="1400" b="1" spc="400" kern="0" dirty="0">
                <a:solidFill>
                  <a:schemeClr val="accent1"/>
                </a:solidFill>
              </a:rPr>
              <a:t>PART IV</a:t>
            </a:r>
            <a:endParaRPr lang="en-US" sz="1400" dirty="0"/>
          </a:p>
        </p:txBody>
      </p:sp>
      <p:sp>
        <p:nvSpPr>
          <p:cNvPr id="5" name="Text 0"/>
          <p:cNvSpPr/>
          <p:nvPr>
            <p:ph idx="101" type="title" hasCustomPrompt="1"/>
          </p:nvPr>
        </p:nvSpPr>
        <p:spPr>
          <a:xfrm>
            <a:off x="640080" y="2377440"/>
            <a:ext cx="6583680" cy="2103120"/>
          </a:xfrm>
          <a:prstGeom prst="rect">
            <a:avLst/>
          </a:prstGeom>
          <a:noFill/>
          <a:ln/>
        </p:spPr>
        <p:txBody>
          <a:bodyPr wrap="square" lIns="0" tIns="0" rIns="0" bIns="0" rtlCol="0" anchor="t"/>
          <a:lstStyle/>
          <a:p>
            <a:pPr algn="l" indent="0" marL="0">
              <a:buNone/>
            </a:pPr>
            <a:r>
              <a:rPr lang="en-US" sz="4400" b="1" dirty="0">
                <a:solidFill>
                  <a:schemeClr val="bg1"/>
                </a:solidFill>
                <a:latin typeface="Century Gothic" pitchFamily="34" charset="0"/>
                <a:ea typeface="Century Gothic" pitchFamily="34" charset="-122"/>
                <a:cs typeface="Century Gothic" pitchFamily="34" charset="-120"/>
              </a:rPr>
              <a:t>You must unlearn what you have learned</a:t>
            </a:r>
            <a:endParaRPr lang="en-US" sz="4400" dirty="0"/>
          </a:p>
        </p:txBody>
      </p:sp>
      <p:sp>
        <p:nvSpPr>
          <p:cNvPr id="7" name="Text 0"/>
          <p:cNvSpPr/>
          <p:nvPr>
            <p:ph idx="102" type="body" hasCustomPrompt="1"/>
          </p:nvPr>
        </p:nvSpPr>
        <p:spPr>
          <a:xfrm>
            <a:off x="640080" y="4572000"/>
            <a:ext cx="5486400" cy="1097280"/>
          </a:xfrm>
          <a:prstGeom prst="rect">
            <a:avLst/>
          </a:prstGeom>
          <a:noFill/>
          <a:ln/>
        </p:spPr>
        <p:txBody>
          <a:bodyPr wrap="square" lIns="0" tIns="0" rIns="0" bIns="0" rtlCol="0" anchor="t"/>
          <a:lstStyle/>
          <a:p>
            <a:pPr indent="0" marL="0">
              <a:buNone/>
            </a:pP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881360" cy="365760"/>
          </a:xfrm>
          <a:prstGeom prst="rect">
            <a:avLst/>
          </a:prstGeom>
          <a:noFill/>
          <a:ln/>
        </p:spPr>
        <p:txBody>
          <a:bodyPr wrap="square" lIns="0" tIns="0" rIns="0" bIns="0" rtlCol="0"/>
          <a:lstStyle/>
          <a:p>
            <a:pPr indent="0" marL="0">
              <a:buNone/>
            </a:pPr>
            <a:r>
              <a:rPr lang="en-US" sz="1300" b="1" spc="400" kern="0" dirty="0">
                <a:solidFill>
                  <a:schemeClr val="accent1"/>
                </a:solidFill>
              </a:rPr>
              <a:t>PART IV · THE POSSIBILITY</a:t>
            </a:r>
            <a:endParaRPr lang="en-US" sz="1300" dirty="0"/>
          </a:p>
        </p:txBody>
      </p:sp>
      <p:sp>
        <p:nvSpPr>
          <p:cNvPr id="3" name="Text 0"/>
          <p:cNvSpPr/>
          <p:nvPr>
            <p:ph idx="101" type="title" hasCustomPrompt="1"/>
          </p:nvPr>
        </p:nvSpPr>
        <p:spPr>
          <a:xfrm>
            <a:off x="640080" y="777240"/>
            <a:ext cx="10881360" cy="822960"/>
          </a:xfrm>
          <a:prstGeom prst="rect">
            <a:avLst/>
          </a:prstGeom>
          <a:noFill/>
          <a:ln/>
        </p:spPr>
        <p:txBody>
          <a:bodyPr wrap="square" lIns="0" tIns="0" rIns="0" bIns="0" rtlCol="0" anchor="t"/>
          <a:lstStyle/>
          <a:p>
            <a:pPr algn="l" indent="0" marL="0">
              <a:buNone/>
            </a:pPr>
            <a:r>
              <a:rPr lang="en-US" sz="3600" b="1" dirty="0">
                <a:solidFill>
                  <a:schemeClr val="bg1"/>
                </a:solidFill>
                <a:latin typeface="Century Gothic" pitchFamily="34" charset="0"/>
                <a:ea typeface="Century Gothic" pitchFamily="34" charset="-122"/>
                <a:cs typeface="Century Gothic" pitchFamily="34" charset="-120"/>
              </a:rPr>
              <a:t>How much can one engineer build?</a:t>
            </a:r>
            <a:endParaRPr lang="en-US" sz="3600" dirty="0"/>
          </a:p>
        </p:txBody>
      </p:sp>
      <p:pic>
        <p:nvPicPr>
          <p:cNvPr id="4" name="Making art" descr="C:\Code\kolatts.github.io\talks\joy-of-engineering\images\joy-making.jpg">    </p:cNvPr>
          <p:cNvPicPr>
            <a:picLocks noChangeAspect="1"/>
          </p:cNvPicPr>
          <p:nvPr/>
        </p:nvPicPr>
        <p:blipFill>
          <a:blip r:embed="rId1"/>
          <a:srcRect l="0" r="0" t="0" b="0"/>
          <a:stretch/>
        </p:blipFill>
        <p:spPr>
          <a:xfrm>
            <a:off x="640080" y="1828800"/>
            <a:ext cx="5349240" cy="4114800"/>
          </a:xfrm>
          <a:prstGeom prst="rect">
            <a:avLst/>
          </a:prstGeom>
        </p:spPr>
      </p:pic>
      <p:pic>
        <p:nvPicPr>
          <p:cNvPr id="5" name="Making scrim" descr="preencoded.png">    </p:cNvPr>
          <p:cNvPicPr>
            <a:picLocks noChangeAspect="1"/>
          </p:cNvPicPr>
          <p:nvPr/>
        </p:nvPicPr>
        <p:blipFill>
          <a:blip r:embed="rId2"/>
          <a:srcRect l="0" r="0" t="0" b="0"/>
          <a:stretch/>
        </p:blipFill>
        <p:spPr>
          <a:xfrm>
            <a:off x="640080" y="1828800"/>
            <a:ext cx="5349240" cy="4114800"/>
          </a:xfrm>
          <a:prstGeom prst="rect">
            <a:avLst/>
          </a:prstGeom>
        </p:spPr>
      </p:pic>
      <p:sp>
        <p:nvSpPr>
          <p:cNvPr id="6" name="Text 2"/>
          <p:cNvSpPr txBox="1"/>
          <p:nvPr/>
        </p:nvSpPr>
        <p:spPr>
          <a:xfrm>
            <a:off x="960120" y="4617720"/>
            <a:ext cx="4709160" cy="640080"/>
          </a:xfrm>
          <a:prstGeom prst="rect">
            <a:avLst/>
          </a:prstGeom>
          <a:noFill/>
          <a:ln/>
        </p:spPr>
        <p:txBody>
          <a:bodyPr wrap="square" lIns="0" tIns="0" rIns="0" bIns="0" rtlCol="0" anchor="ctr"/>
          <a:lstStyle/>
          <a:p>
            <a:pPr indent="0" marL="0">
              <a:buNone/>
            </a:pPr>
            <a:r>
              <a:rPr lang="en-US" sz="3200" b="1" dirty="0">
                <a:solidFill>
                  <a:schemeClr val="accent1"/>
                </a:solidFill>
                <a:latin typeface="Century Gothic" pitchFamily="34" charset="0"/>
                <a:ea typeface="Century Gothic" pitchFamily="34" charset="-122"/>
                <a:cs typeface="Century Gothic" pitchFamily="34" charset="-120"/>
              </a:rPr>
              <a:t>Making</a:t>
            </a:r>
            <a:endParaRPr lang="en-US" sz="3200" dirty="0"/>
          </a:p>
        </p:txBody>
      </p:sp>
      <p:sp>
        <p:nvSpPr>
          <p:cNvPr id="7" name="Text 3"/>
          <p:cNvSpPr txBox="1"/>
          <p:nvPr/>
        </p:nvSpPr>
        <p:spPr>
          <a:xfrm>
            <a:off x="960120" y="5257800"/>
            <a:ext cx="4709160" cy="457200"/>
          </a:xfrm>
          <a:prstGeom prst="rect">
            <a:avLst/>
          </a:prstGeom>
          <a:noFill/>
          <a:ln/>
        </p:spPr>
        <p:txBody>
          <a:bodyPr wrap="square" lIns="0" tIns="0" rIns="0" bIns="0" rtlCol="0" anchor="ctr"/>
          <a:lstStyle/>
          <a:p>
            <a:pPr indent="0" marL="0">
              <a:buNone/>
            </a:pPr>
            <a:r>
              <a:rPr lang="en-US" sz="2000" dirty="0">
                <a:solidFill>
                  <a:schemeClr val="bg1"/>
                </a:solidFill>
              </a:rPr>
              <a:t>moves up an abstraction level</a:t>
            </a:r>
            <a:endParaRPr lang="en-US" sz="2000" dirty="0"/>
          </a:p>
        </p:txBody>
      </p:sp>
      <p:pic>
        <p:nvPicPr>
          <p:cNvPr id="8" name="Knowing art" descr="C:\Code\kolatts.github.io\talks\joy-of-engineering\images\joy-knowing.jpg">    </p:cNvPr>
          <p:cNvPicPr>
            <a:picLocks noChangeAspect="1"/>
          </p:cNvPicPr>
          <p:nvPr/>
        </p:nvPicPr>
        <p:blipFill>
          <a:blip r:embed="rId3"/>
          <a:srcRect l="0" r="0" t="0" b="0"/>
          <a:stretch/>
        </p:blipFill>
        <p:spPr>
          <a:xfrm>
            <a:off x="6172200" y="1828800"/>
            <a:ext cx="5349240" cy="4114800"/>
          </a:xfrm>
          <a:prstGeom prst="rect">
            <a:avLst/>
          </a:prstGeom>
        </p:spPr>
      </p:pic>
      <p:pic>
        <p:nvPicPr>
          <p:cNvPr id="9" name="Knowing scrim" descr="preencoded.png">    </p:cNvPr>
          <p:cNvPicPr>
            <a:picLocks noChangeAspect="1"/>
          </p:cNvPicPr>
          <p:nvPr/>
        </p:nvPicPr>
        <p:blipFill>
          <a:blip r:embed="rId4"/>
          <a:srcRect l="0" r="0" t="0" b="0"/>
          <a:stretch/>
        </p:blipFill>
        <p:spPr>
          <a:xfrm>
            <a:off x="6172200" y="1828800"/>
            <a:ext cx="5349240" cy="4114800"/>
          </a:xfrm>
          <a:prstGeom prst="rect">
            <a:avLst/>
          </a:prstGeom>
        </p:spPr>
      </p:pic>
      <p:sp>
        <p:nvSpPr>
          <p:cNvPr id="10" name="Text 4"/>
          <p:cNvSpPr txBox="1"/>
          <p:nvPr/>
        </p:nvSpPr>
        <p:spPr>
          <a:xfrm>
            <a:off x="6492240" y="4617720"/>
            <a:ext cx="4709160" cy="640080"/>
          </a:xfrm>
          <a:prstGeom prst="rect">
            <a:avLst/>
          </a:prstGeom>
          <a:noFill/>
          <a:ln/>
        </p:spPr>
        <p:txBody>
          <a:bodyPr wrap="square" lIns="0" tIns="0" rIns="0" bIns="0" rtlCol="0" anchor="ctr"/>
          <a:lstStyle/>
          <a:p>
            <a:pPr indent="0" marL="0">
              <a:buNone/>
            </a:pPr>
            <a:r>
              <a:rPr lang="en-US" sz="3200" b="1" dirty="0">
                <a:solidFill>
                  <a:schemeClr val="accent2"/>
                </a:solidFill>
                <a:latin typeface="Century Gothic" pitchFamily="34" charset="0"/>
                <a:ea typeface="Century Gothic" pitchFamily="34" charset="-122"/>
                <a:cs typeface="Century Gothic" pitchFamily="34" charset="-120"/>
              </a:rPr>
              <a:t>Knowing</a:t>
            </a:r>
            <a:endParaRPr lang="en-US" sz="3200" dirty="0"/>
          </a:p>
        </p:txBody>
      </p:sp>
      <p:sp>
        <p:nvSpPr>
          <p:cNvPr id="11" name="Text 5"/>
          <p:cNvSpPr txBox="1"/>
          <p:nvPr/>
        </p:nvSpPr>
        <p:spPr>
          <a:xfrm>
            <a:off x="6492240" y="5257800"/>
            <a:ext cx="4709160" cy="457200"/>
          </a:xfrm>
          <a:prstGeom prst="rect">
            <a:avLst/>
          </a:prstGeom>
          <a:noFill/>
          <a:ln/>
        </p:spPr>
        <p:txBody>
          <a:bodyPr wrap="square" lIns="0" tIns="0" rIns="0" bIns="0" rtlCol="0" anchor="ctr"/>
          <a:lstStyle/>
          <a:p>
            <a:pPr indent="0" marL="0">
              <a:buNone/>
            </a:pPr>
            <a:r>
              <a:rPr lang="en-US" sz="2000" dirty="0">
                <a:solidFill>
                  <a:schemeClr val="bg1"/>
                </a:solidFill>
              </a:rPr>
              <a:t>don’t just pick — keep conjuring</a:t>
            </a:r>
            <a:endParaRPr lang="en-US" sz="2000" dirty="0"/>
          </a:p>
        </p:txBody>
      </p:sp>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90"/>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Background art" descr="C:\Code\kolatts.github.io\talks\joy-of-engineering\images\choice-path.jpg">    </p:cNvPr>
          <p:cNvPicPr>
            <a:picLocks noChangeAspect="1"/>
          </p:cNvPicPr>
          <p:nvPr/>
        </p:nvPicPr>
        <p:blipFill>
          <a:blip r:embed="rId1"/>
          <a:srcRect l="0" r="0" t="0" b="0"/>
          <a:stretch/>
        </p:blipFill>
        <p:spPr>
          <a:xfrm>
            <a:off x="0" y="0"/>
            <a:ext cx="12191695" cy="6858000"/>
          </a:xfrm>
          <a:prstGeom prst="rect">
            <a:avLst/>
          </a:prstGeom>
        </p:spPr>
      </p:pic>
      <p:pic>
        <p:nvPicPr>
          <p:cNvPr id="3" name="Legibility scrim" descr="preencoded.png">    </p:cNvPr>
          <p:cNvPicPr>
            <a:picLocks noChangeAspect="1"/>
          </p:cNvPicPr>
          <p:nvPr/>
        </p:nvPicPr>
        <p:blipFill>
          <a:blip r:embed="rId2"/>
          <a:stretch>
            <a:fillRect/>
          </a:stretch>
        </p:blipFill>
        <p:spPr>
          <a:xfrm>
            <a:off x="0" y="0"/>
            <a:ext cx="12191695" cy="6858000"/>
          </a:xfrm>
          <a:prstGeom prst="rect">
            <a:avLst/>
          </a:prstGeom>
        </p:spPr>
      </p:pic>
      <p:sp>
        <p:nvSpPr>
          <p:cNvPr id="4" name="Text 0"/>
          <p:cNvSpPr/>
          <p:nvPr>
            <p:ph idx="100" type="body" hasCustomPrompt="1"/>
          </p:nvPr>
        </p:nvSpPr>
        <p:spPr>
          <a:xfrm>
            <a:off x="640080" y="1920240"/>
            <a:ext cx="5852160" cy="411480"/>
          </a:xfrm>
          <a:prstGeom prst="rect">
            <a:avLst/>
          </a:prstGeom>
          <a:noFill/>
          <a:ln/>
        </p:spPr>
        <p:txBody>
          <a:bodyPr wrap="square" lIns="0" tIns="0" rIns="0" bIns="0" rtlCol="0" anchor="b"/>
          <a:lstStyle/>
          <a:p>
            <a:pPr indent="0" marL="0">
              <a:buNone/>
            </a:pPr>
            <a:r>
              <a:rPr lang="en-US" sz="1400" b="1" spc="400" kern="0" dirty="0">
                <a:solidFill>
                  <a:schemeClr val="accent1"/>
                </a:solidFill>
              </a:rPr>
              <a:t>PART V</a:t>
            </a:r>
            <a:endParaRPr lang="en-US" sz="1400" dirty="0"/>
          </a:p>
        </p:txBody>
      </p:sp>
      <p:sp>
        <p:nvSpPr>
          <p:cNvPr id="5" name="Text 0"/>
          <p:cNvSpPr/>
          <p:nvPr>
            <p:ph idx="101" type="title" hasCustomPrompt="1"/>
          </p:nvPr>
        </p:nvSpPr>
        <p:spPr>
          <a:xfrm>
            <a:off x="640080" y="2377440"/>
            <a:ext cx="6583680" cy="2103120"/>
          </a:xfrm>
          <a:prstGeom prst="rect">
            <a:avLst/>
          </a:prstGeom>
          <a:noFill/>
          <a:ln/>
        </p:spPr>
        <p:txBody>
          <a:bodyPr wrap="square" lIns="0" tIns="0" rIns="0" bIns="0" rtlCol="0" anchor="t"/>
          <a:lstStyle/>
          <a:p>
            <a:pPr algn="l" indent="0" marL="0">
              <a:buNone/>
            </a:pPr>
            <a:r>
              <a:rPr lang="en-US" sz="4400" b="1" dirty="0">
                <a:solidFill>
                  <a:schemeClr val="bg1"/>
                </a:solidFill>
                <a:latin typeface="Century Gothic" pitchFamily="34" charset="0"/>
                <a:ea typeface="Century Gothic" pitchFamily="34" charset="-122"/>
                <a:cs typeface="Century Gothic" pitchFamily="34" charset="-120"/>
              </a:rPr>
              <a:t>The Choice</a:t>
            </a:r>
            <a:endParaRPr lang="en-US" sz="4400" dirty="0"/>
          </a:p>
        </p:txBody>
      </p:sp>
      <p:sp>
        <p:nvSpPr>
          <p:cNvPr id="6" name="Subtitle"/>
          <p:cNvSpPr txBox="1"/>
          <p:nvPr/>
        </p:nvSpPr>
        <p:spPr>
          <a:xfrm>
            <a:off x="640080" y="3429000"/>
            <a:ext cx="5486400" cy="822960"/>
          </a:xfrm>
          <a:prstGeom prst="rect">
            <a:avLst/>
          </a:prstGeom>
          <a:noFill/>
          <a:ln/>
        </p:spPr>
        <p:txBody>
          <a:bodyPr wrap="square" lIns="0" tIns="0" rIns="0" bIns="0" rtlCol="0" anchor="t"/>
          <a:lstStyle/>
          <a:p>
            <a:pPr indent="0" marL="0">
              <a:buNone/>
            </a:pPr>
            <a:r>
              <a:rPr lang="en-US" sz="2000" dirty="0">
                <a:solidFill>
                  <a:schemeClr val="bg2"/>
                </a:solidFill>
              </a:rPr>
              <a:t>A revelation about your past doesn’t dictate your future.</a:t>
            </a:r>
            <a:endParaRPr lang="en-US" sz="2000" dirty="0"/>
          </a:p>
        </p:txBody>
      </p:sp>
      <p:sp>
        <p:nvSpPr>
          <p:cNvPr id="8" name="Text 0"/>
          <p:cNvSpPr/>
          <p:nvPr>
            <p:ph idx="102" type="body" hasCustomPrompt="1"/>
          </p:nvPr>
        </p:nvSpPr>
        <p:spPr>
          <a:xfrm>
            <a:off x="640080" y="4572000"/>
            <a:ext cx="5486400" cy="1097280"/>
          </a:xfrm>
          <a:prstGeom prst="rect">
            <a:avLst/>
          </a:prstGeom>
          <a:noFill/>
          <a:ln/>
        </p:spPr>
        <p:txBody>
          <a:bodyPr wrap="square" lIns="0" tIns="0" rIns="0" bIns="0" rtlCol="0" anchor="t"/>
          <a:lstStyle/>
          <a:p>
            <a:pPr indent="0" marL="0">
              <a:buNone/>
            </a:pP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Background art" descr="C:\Code\kolatts.github.io\talks\joy-of-engineering\images\joy-mattering.jpg">    </p:cNvPr>
          <p:cNvPicPr>
            <a:picLocks noChangeAspect="1"/>
          </p:cNvPicPr>
          <p:nvPr/>
        </p:nvPicPr>
        <p:blipFill>
          <a:blip r:embed="rId1"/>
          <a:srcRect l="0" r="0" t="0" b="0"/>
          <a:stretch/>
        </p:blipFill>
        <p:spPr>
          <a:xfrm>
            <a:off x="0" y="0"/>
            <a:ext cx="12191695" cy="6858000"/>
          </a:xfrm>
          <a:prstGeom prst="rect">
            <a:avLst/>
          </a:prstGeom>
        </p:spPr>
      </p:pic>
      <p:pic>
        <p:nvPicPr>
          <p:cNvPr id="3" name="Legibility scrim" descr="preencoded.png">    </p:cNvPr>
          <p:cNvPicPr>
            <a:picLocks noChangeAspect="1"/>
          </p:cNvPicPr>
          <p:nvPr/>
        </p:nvPicPr>
        <p:blipFill>
          <a:blip r:embed="rId2"/>
          <a:stretch>
            <a:fillRect/>
          </a:stretch>
        </p:blipFill>
        <p:spPr>
          <a:xfrm>
            <a:off x="0" y="0"/>
            <a:ext cx="12191695" cy="6858000"/>
          </a:xfrm>
          <a:prstGeom prst="rect">
            <a:avLst/>
          </a:prstGeom>
        </p:spPr>
      </p:pic>
      <p:sp>
        <p:nvSpPr>
          <p:cNvPr id="4" name="Text 0"/>
          <p:cNvSpPr/>
          <p:nvPr>
            <p:ph idx="100" type="body" hasCustomPrompt="1"/>
          </p:nvPr>
        </p:nvSpPr>
        <p:spPr>
          <a:xfrm>
            <a:off x="640080" y="1920240"/>
            <a:ext cx="5852160" cy="411480"/>
          </a:xfrm>
          <a:prstGeom prst="rect">
            <a:avLst/>
          </a:prstGeom>
          <a:noFill/>
          <a:ln/>
        </p:spPr>
        <p:txBody>
          <a:bodyPr wrap="square" lIns="0" tIns="0" rIns="0" bIns="0" rtlCol="0" anchor="b"/>
          <a:lstStyle/>
          <a:p>
            <a:pPr indent="0" marL="0">
              <a:buNone/>
            </a:pPr>
            <a:r>
              <a:rPr lang="en-US" sz="1400" b="1" spc="400" kern="0" dirty="0">
                <a:solidFill>
                  <a:schemeClr val="accent1"/>
                </a:solidFill>
              </a:rPr>
              <a:t>PART V · THE CHOICE</a:t>
            </a:r>
            <a:endParaRPr lang="en-US" sz="1400" dirty="0"/>
          </a:p>
        </p:txBody>
      </p:sp>
      <p:sp>
        <p:nvSpPr>
          <p:cNvPr id="5" name="Text 0"/>
          <p:cNvSpPr/>
          <p:nvPr>
            <p:ph idx="101" type="title" hasCustomPrompt="1"/>
          </p:nvPr>
        </p:nvSpPr>
        <p:spPr>
          <a:xfrm>
            <a:off x="640080" y="2377440"/>
            <a:ext cx="6583680" cy="2103120"/>
          </a:xfrm>
          <a:prstGeom prst="rect">
            <a:avLst/>
          </a:prstGeom>
          <a:noFill/>
          <a:ln/>
        </p:spPr>
        <p:txBody>
          <a:bodyPr wrap="square" lIns="0" tIns="0" rIns="0" bIns="0" rtlCol="0" anchor="t"/>
          <a:lstStyle/>
          <a:p>
            <a:pPr algn="l" indent="0" marL="0">
              <a:buNone/>
            </a:pPr>
            <a:r>
              <a:rPr lang="en-US" sz="4400" b="1" dirty="0">
                <a:solidFill>
                  <a:schemeClr val="bg1"/>
                </a:solidFill>
                <a:latin typeface="Century Gothic" pitchFamily="34" charset="0"/>
                <a:ea typeface="Century Gothic" pitchFamily="34" charset="-122"/>
                <a:cs typeface="Century Gothic" pitchFamily="34" charset="-120"/>
              </a:rPr>
              <a:t>Mattering</a:t>
            </a:r>
            <a:endParaRPr lang="en-US" sz="4400" dirty="0"/>
          </a:p>
          <a:p>
            <a:pPr algn="l" indent="0" marL="0">
              <a:buNone/>
            </a:pPr>
            <a:r>
              <a:rPr lang="en-US" sz="4400" b="1" dirty="0">
                <a:solidFill>
                  <a:schemeClr val="bg1"/>
                </a:solidFill>
                <a:latin typeface="Century Gothic" pitchFamily="34" charset="0"/>
                <a:ea typeface="Century Gothic" pitchFamily="34" charset="-122"/>
                <a:cs typeface="Century Gothic" pitchFamily="34" charset="-120"/>
              </a:rPr>
              <a:t>comes from us</a:t>
            </a:r>
            <a:endParaRPr lang="en-US" sz="4400" dirty="0"/>
          </a:p>
        </p:txBody>
      </p:sp>
      <p:sp>
        <p:nvSpPr>
          <p:cNvPr id="6" name="Text 0"/>
          <p:cNvSpPr/>
          <p:nvPr>
            <p:ph idx="102" type="body" hasCustomPrompt="1"/>
          </p:nvPr>
        </p:nvSpPr>
        <p:spPr>
          <a:xfrm>
            <a:off x="640080" y="4572000"/>
            <a:ext cx="5486400" cy="1097280"/>
          </a:xfrm>
          <a:prstGeom prst="rect">
            <a:avLst/>
          </a:prstGeom>
          <a:noFill/>
          <a:ln/>
        </p:spPr>
        <p:txBody>
          <a:bodyPr wrap="square" lIns="0" tIns="0" rIns="0" bIns="0" rtlCol="0" anchor="t"/>
          <a:lstStyle/>
          <a:p>
            <a:pPr indent="0" marL="0">
              <a:buNone/>
            </a:pPr>
            <a:r>
              <a:rPr lang="en-US" sz="2000" b="1" dirty="0">
                <a:solidFill>
                  <a:schemeClr val="accent1"/>
                </a:solidFill>
              </a:rPr>
              <a:t>Choices · Judgment · Impact</a:t>
            </a:r>
            <a:endParaRPr lang="en-US" sz="2000" dirty="0"/>
          </a:p>
          <a:p>
            <a:pPr indent="0" marL="0">
              <a:buNone/>
            </a:pPr>
            <a:r>
              <a:rPr lang="en-US" sz="2000" dirty="0">
                <a:solidFill>
                  <a:schemeClr val="bg2"/>
                </a:solidFill>
              </a:rPr>
              <a:t>Not our tools.</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Background art" descr="C:\Code\kolatts.github.io\talks\joy-of-engineering\images\new-craft.jpg">    </p:cNvPr>
          <p:cNvPicPr>
            <a:picLocks noChangeAspect="1"/>
          </p:cNvPicPr>
          <p:nvPr/>
        </p:nvPicPr>
        <p:blipFill>
          <a:blip r:embed="rId1"/>
          <a:srcRect l="0" r="0" t="0" b="0"/>
          <a:stretch/>
        </p:blipFill>
        <p:spPr>
          <a:xfrm>
            <a:off x="0" y="0"/>
            <a:ext cx="12191695" cy="6858000"/>
          </a:xfrm>
          <a:prstGeom prst="rect">
            <a:avLst/>
          </a:prstGeom>
        </p:spPr>
      </p:pic>
      <p:pic>
        <p:nvPicPr>
          <p:cNvPr id="3" name="Legibility scrim" descr="preencoded.png">    </p:cNvPr>
          <p:cNvPicPr>
            <a:picLocks noChangeAspect="1"/>
          </p:cNvPicPr>
          <p:nvPr/>
        </p:nvPicPr>
        <p:blipFill>
          <a:blip r:embed="rId2"/>
          <a:stretch>
            <a:fillRect/>
          </a:stretch>
        </p:blipFill>
        <p:spPr>
          <a:xfrm>
            <a:off x="0" y="0"/>
            <a:ext cx="12191695" cy="6858000"/>
          </a:xfrm>
          <a:prstGeom prst="rect">
            <a:avLst/>
          </a:prstGeom>
        </p:spPr>
      </p:pic>
      <p:sp>
        <p:nvSpPr>
          <p:cNvPr id="4" name="Text 0"/>
          <p:cNvSpPr/>
          <p:nvPr>
            <p:ph idx="100" type="body" hasCustomPrompt="1"/>
          </p:nvPr>
        </p:nvSpPr>
        <p:spPr>
          <a:xfrm>
            <a:off x="640080" y="1920240"/>
            <a:ext cx="5852160" cy="411480"/>
          </a:xfrm>
          <a:prstGeom prst="rect">
            <a:avLst/>
          </a:prstGeom>
          <a:noFill/>
          <a:ln/>
        </p:spPr>
        <p:txBody>
          <a:bodyPr wrap="square" lIns="0" tIns="0" rIns="0" bIns="0" rtlCol="0" anchor="b"/>
          <a:lstStyle/>
          <a:p>
            <a:pPr indent="0" marL="0">
              <a:buNone/>
            </a:pPr>
            <a:r>
              <a:rPr lang="en-US" sz="1400" b="1" spc="400" kern="0" dirty="0">
                <a:solidFill>
                  <a:schemeClr val="accent1"/>
                </a:solidFill>
              </a:rPr>
              <a:t>PART VI</a:t>
            </a:r>
            <a:endParaRPr lang="en-US" sz="1400" dirty="0"/>
          </a:p>
        </p:txBody>
      </p:sp>
      <p:sp>
        <p:nvSpPr>
          <p:cNvPr id="5" name="Text 0"/>
          <p:cNvSpPr/>
          <p:nvPr>
            <p:ph idx="101" type="title" hasCustomPrompt="1"/>
          </p:nvPr>
        </p:nvSpPr>
        <p:spPr>
          <a:xfrm>
            <a:off x="640080" y="2377440"/>
            <a:ext cx="6583680" cy="2103120"/>
          </a:xfrm>
          <a:prstGeom prst="rect">
            <a:avLst/>
          </a:prstGeom>
          <a:noFill/>
          <a:ln/>
        </p:spPr>
        <p:txBody>
          <a:bodyPr wrap="square" lIns="0" tIns="0" rIns="0" bIns="0" rtlCol="0" anchor="t"/>
          <a:lstStyle/>
          <a:p>
            <a:pPr algn="l" indent="0" marL="0">
              <a:buNone/>
            </a:pPr>
            <a:r>
              <a:rPr lang="en-US" sz="4400" b="1" dirty="0">
                <a:solidFill>
                  <a:schemeClr val="bg1"/>
                </a:solidFill>
                <a:latin typeface="Century Gothic" pitchFamily="34" charset="0"/>
                <a:ea typeface="Century Gothic" pitchFamily="34" charset="-122"/>
                <a:cs typeface="Century Gothic" pitchFamily="34" charset="-120"/>
              </a:rPr>
              <a:t>The tools changed.</a:t>
            </a:r>
            <a:endParaRPr lang="en-US" sz="4400" dirty="0"/>
          </a:p>
          <a:p>
            <a:pPr algn="l" indent="0" marL="0">
              <a:buNone/>
            </a:pPr>
            <a:r>
              <a:rPr lang="en-US" sz="4400" b="1" dirty="0">
                <a:solidFill>
                  <a:schemeClr val="bg1"/>
                </a:solidFill>
                <a:latin typeface="Century Gothic" pitchFamily="34" charset="0"/>
                <a:ea typeface="Century Gothic" pitchFamily="34" charset="-122"/>
                <a:cs typeface="Century Gothic" pitchFamily="34" charset="-120"/>
              </a:rPr>
              <a:t>The joys don’t have to.</a:t>
            </a:r>
            <a:endParaRPr lang="en-US" sz="4400" dirty="0"/>
          </a:p>
        </p:txBody>
      </p:sp>
      <p:sp>
        <p:nvSpPr>
          <p:cNvPr id="6" name="Text 0"/>
          <p:cNvSpPr/>
          <p:nvPr>
            <p:ph idx="102" type="body" hasCustomPrompt="1"/>
          </p:nvPr>
        </p:nvSpPr>
        <p:spPr>
          <a:xfrm>
            <a:off x="640080" y="4572000"/>
            <a:ext cx="5486400" cy="1097280"/>
          </a:xfrm>
          <a:prstGeom prst="rect">
            <a:avLst/>
          </a:prstGeom>
          <a:noFill/>
          <a:ln/>
        </p:spPr>
        <p:txBody>
          <a:bodyPr wrap="square" lIns="0" tIns="0" rIns="0" bIns="0" rtlCol="0" anchor="t"/>
          <a:lstStyle/>
          <a:p>
            <a:pPr indent="0" marL="0">
              <a:buNone/>
            </a:pPr>
            <a:r>
              <a:rPr lang="en-US" sz="2000" dirty="0">
                <a:solidFill>
                  <a:schemeClr val="bg2"/>
                </a:solidFill>
              </a:rPr>
              <a:t>Adaptation isn’t abandoning the craft. It’s a new expression of it.</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Background art" descr="C:\Code\kolatts.github.io\talks\joy-of-engineering\images\twin-sunset.jpg">    </p:cNvPr>
          <p:cNvPicPr>
            <a:picLocks noChangeAspect="1"/>
          </p:cNvPicPr>
          <p:nvPr/>
        </p:nvPicPr>
        <p:blipFill>
          <a:blip r:embed="rId1"/>
          <a:srcRect l="0" r="0" t="0" b="0"/>
          <a:stretch/>
        </p:blipFill>
        <p:spPr>
          <a:xfrm>
            <a:off x="0" y="0"/>
            <a:ext cx="12191695" cy="6858000"/>
          </a:xfrm>
          <a:prstGeom prst="rect">
            <a:avLst/>
          </a:prstGeom>
        </p:spPr>
      </p:pic>
      <p:pic>
        <p:nvPicPr>
          <p:cNvPr id="3" name="Legibility scrim" descr="preencoded.png">    </p:cNvPr>
          <p:cNvPicPr>
            <a:picLocks noChangeAspect="1"/>
          </p:cNvPicPr>
          <p:nvPr/>
        </p:nvPicPr>
        <p:blipFill>
          <a:blip r:embed="rId2"/>
          <a:stretch>
            <a:fillRect/>
          </a:stretch>
        </p:blipFill>
        <p:spPr>
          <a:xfrm>
            <a:off x="0" y="0"/>
            <a:ext cx="12191695" cy="6858000"/>
          </a:xfrm>
          <a:prstGeom prst="rect">
            <a:avLst/>
          </a:prstGeom>
        </p:spPr>
      </p:pic>
      <p:sp>
        <p:nvSpPr>
          <p:cNvPr id="4" name="Dim overlay"/>
          <p:cNvSpPr/>
          <p:nvPr/>
        </p:nvSpPr>
        <p:spPr>
          <a:xfrm>
            <a:off x="0" y="0"/>
            <a:ext cx="12191695" cy="6858000"/>
          </a:xfrm>
          <a:prstGeom prst="rect">
            <a:avLst/>
          </a:prstGeom>
          <a:solidFill>
            <a:schemeClr val="tx1">
              <a:alpha val="45000"/>
            </a:schemeClr>
          </a:solidFill>
          <a:ln/>
        </p:spPr>
      </p:sp>
      <p:sp>
        <p:nvSpPr>
          <p:cNvPr id="5" name="Text 0"/>
          <p:cNvSpPr/>
          <p:nvPr>
            <p:ph idx="100" type="title" hasCustomPrompt="1"/>
          </p:nvPr>
        </p:nvSpPr>
        <p:spPr>
          <a:xfrm>
            <a:off x="1097280" y="1371600"/>
            <a:ext cx="9966960" cy="3108960"/>
          </a:xfrm>
          <a:prstGeom prst="rect">
            <a:avLst/>
          </a:prstGeom>
          <a:noFill/>
          <a:ln/>
        </p:spPr>
        <p:txBody>
          <a:bodyPr wrap="square" lIns="0" tIns="0" rIns="0" bIns="0" rtlCol="0" anchor="ctr"/>
          <a:lstStyle/>
          <a:p>
            <a:pPr algn="ctr" indent="0" marL="0">
              <a:buNone/>
            </a:pPr>
            <a:r>
              <a:rPr lang="en-US" sz="4800" b="1" dirty="0">
                <a:solidFill>
                  <a:schemeClr val="bg1"/>
                </a:solidFill>
                <a:latin typeface="Century Gothic" pitchFamily="34" charset="0"/>
                <a:ea typeface="Century Gothic" pitchFamily="34" charset="-122"/>
                <a:cs typeface="Century Gothic" pitchFamily="34" charset="-120"/>
              </a:rPr>
              <a:t>We didn’t become engineers to write syntax.</a:t>
            </a:r>
            <a:endParaRPr lang="en-US" sz="4800" dirty="0"/>
          </a:p>
          <a:p>
            <a:pPr algn="ctr" indent="0" marL="0">
              <a:buNone/>
            </a:pPr>
            <a:r>
              <a:rPr lang="en-US" sz="4800" b="1" dirty="0">
                <a:solidFill>
                  <a:schemeClr val="bg1"/>
                </a:solidFill>
                <a:latin typeface="Century Gothic" pitchFamily="34" charset="0"/>
                <a:ea typeface="Century Gothic" pitchFamily="34" charset="-122"/>
                <a:cs typeface="Century Gothic" pitchFamily="34" charset="-120"/>
              </a:rPr>
              <a:t>We became engineers to </a:t>
            </a:r>
            <a:pPr algn="ctr" indent="0" marL="0">
              <a:buNone/>
            </a:pPr>
            <a:r>
              <a:rPr lang="en-US" sz="4800" b="1" dirty="0">
                <a:solidFill>
                  <a:schemeClr val="accent1"/>
                </a:solidFill>
                <a:latin typeface="Century Gothic" pitchFamily="34" charset="0"/>
                <a:ea typeface="Century Gothic" pitchFamily="34" charset="-122"/>
                <a:cs typeface="Century Gothic" pitchFamily="34" charset="-120"/>
              </a:rPr>
              <a:t>make</a:t>
            </a:r>
            <a:pPr algn="ctr" indent="0" marL="0">
              <a:buNone/>
            </a:pPr>
            <a:r>
              <a:rPr lang="en-US" sz="4800" b="1" dirty="0">
                <a:solidFill>
                  <a:schemeClr val="bg1"/>
                </a:solidFill>
                <a:latin typeface="Century Gothic" pitchFamily="34" charset="0"/>
                <a:ea typeface="Century Gothic" pitchFamily="34" charset="-122"/>
                <a:cs typeface="Century Gothic" pitchFamily="34" charset="-120"/>
              </a:rPr>
              <a:t>, to </a:t>
            </a:r>
            <a:pPr algn="ctr" indent="0" marL="0">
              <a:buNone/>
            </a:pPr>
            <a:r>
              <a:rPr lang="en-US" sz="4800" b="1" dirty="0">
                <a:solidFill>
                  <a:schemeClr val="accent2"/>
                </a:solidFill>
                <a:latin typeface="Century Gothic" pitchFamily="34" charset="0"/>
                <a:ea typeface="Century Gothic" pitchFamily="34" charset="-122"/>
                <a:cs typeface="Century Gothic" pitchFamily="34" charset="-120"/>
              </a:rPr>
              <a:t>know</a:t>
            </a:r>
            <a:pPr algn="ctr" indent="0" marL="0">
              <a:buNone/>
            </a:pPr>
            <a:r>
              <a:rPr lang="en-US" sz="4800" b="1" dirty="0">
                <a:solidFill>
                  <a:schemeClr val="bg1"/>
                </a:solidFill>
                <a:latin typeface="Century Gothic" pitchFamily="34" charset="0"/>
                <a:ea typeface="Century Gothic" pitchFamily="34" charset="-122"/>
                <a:cs typeface="Century Gothic" pitchFamily="34" charset="-120"/>
              </a:rPr>
              <a:t>, and to </a:t>
            </a:r>
            <a:pPr algn="ctr" indent="0" marL="0">
              <a:buNone/>
            </a:pPr>
            <a:r>
              <a:rPr lang="en-US" sz="4800" b="1" dirty="0">
                <a:solidFill>
                  <a:schemeClr val="accent6"/>
                </a:solidFill>
                <a:latin typeface="Century Gothic" pitchFamily="34" charset="0"/>
                <a:ea typeface="Century Gothic" pitchFamily="34" charset="-122"/>
                <a:cs typeface="Century Gothic" pitchFamily="34" charset="-120"/>
              </a:rPr>
              <a:t>matter</a:t>
            </a:r>
            <a:pPr algn="ctr" indent="0" marL="0">
              <a:buNone/>
            </a:pPr>
            <a:r>
              <a:rPr lang="en-US" sz="4800" b="1" dirty="0">
                <a:solidFill>
                  <a:schemeClr val="bg1"/>
                </a:solidFill>
                <a:latin typeface="Century Gothic" pitchFamily="34" charset="0"/>
                <a:ea typeface="Century Gothic" pitchFamily="34" charset="-122"/>
                <a:cs typeface="Century Gothic" pitchFamily="34" charset="-120"/>
              </a:rPr>
              <a:t>.</a:t>
            </a:r>
            <a:endParaRPr lang="en-US" sz="4800" dirty="0"/>
          </a:p>
        </p:txBody>
      </p:sp>
      <p:sp>
        <p:nvSpPr>
          <p:cNvPr id="6" name="Text 0"/>
          <p:cNvSpPr/>
          <p:nvPr>
            <p:ph idx="101" type="body" hasCustomPrompt="1"/>
          </p:nvPr>
        </p:nvSpPr>
        <p:spPr>
          <a:xfrm>
            <a:off x="1554480" y="4846320"/>
            <a:ext cx="9052560" cy="822960"/>
          </a:xfrm>
          <a:prstGeom prst="rect">
            <a:avLst/>
          </a:prstGeom>
          <a:noFill/>
          <a:ln/>
        </p:spPr>
        <p:txBody>
          <a:bodyPr wrap="square" lIns="0" tIns="0" rIns="0" bIns="0" rtlCol="0" anchor="t"/>
          <a:lstStyle/>
          <a:p>
            <a:pPr algn="ctr" indent="0" marL="0">
              <a:buNone/>
            </a:pPr>
            <a:r>
              <a:rPr lang="en-US" sz="2200" dirty="0">
                <a:solidFill>
                  <a:schemeClr val="accent1"/>
                </a:solidFill>
              </a:rPr>
              <a:t>Thank you</a:t>
            </a:r>
            <a:endParaRPr lang="en-US" sz="2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881360" cy="365760"/>
          </a:xfrm>
          <a:prstGeom prst="rect">
            <a:avLst/>
          </a:prstGeom>
          <a:noFill/>
          <a:ln/>
        </p:spPr>
        <p:txBody>
          <a:bodyPr wrap="square" lIns="0" tIns="0" rIns="0" bIns="0" rtlCol="0"/>
          <a:lstStyle/>
          <a:p>
            <a:pPr indent="0" marL="0">
              <a:buNone/>
            </a:pPr>
            <a:r>
              <a:rPr lang="en-US" sz="1300" b="1" spc="400" kern="0" dirty="0">
                <a:solidFill>
                  <a:schemeClr val="accent1"/>
                </a:solidFill>
              </a:rPr>
              <a:t>CREDITS</a:t>
            </a:r>
            <a:endParaRPr lang="en-US" sz="1300" dirty="0"/>
          </a:p>
        </p:txBody>
      </p:sp>
      <p:sp>
        <p:nvSpPr>
          <p:cNvPr id="3" name="Text 0"/>
          <p:cNvSpPr/>
          <p:nvPr>
            <p:ph idx="101" type="title" hasCustomPrompt="1"/>
          </p:nvPr>
        </p:nvSpPr>
        <p:spPr>
          <a:xfrm>
            <a:off x="640080" y="777240"/>
            <a:ext cx="10881360" cy="822960"/>
          </a:xfrm>
          <a:prstGeom prst="rect">
            <a:avLst/>
          </a:prstGeom>
          <a:noFill/>
          <a:ln/>
        </p:spPr>
        <p:txBody>
          <a:bodyPr wrap="square" lIns="0" tIns="0" rIns="0" bIns="0" rtlCol="0" anchor="t"/>
          <a:lstStyle/>
          <a:p>
            <a:pPr algn="l" indent="0" marL="0">
              <a:buNone/>
            </a:pPr>
            <a:r>
              <a:rPr lang="en-US" sz="3600" b="1" dirty="0">
                <a:solidFill>
                  <a:schemeClr val="bg1"/>
                </a:solidFill>
                <a:latin typeface="Century Gothic" pitchFamily="34" charset="0"/>
                <a:ea typeface="Century Gothic" pitchFamily="34" charset="-122"/>
                <a:cs typeface="Century Gothic" pitchFamily="34" charset="-120"/>
              </a:rPr>
              <a:t>Image credits</a:t>
            </a:r>
            <a:endParaRPr lang="en-US" sz="3600" dirty="0"/>
          </a:p>
        </p:txBody>
      </p:sp>
      <p:sp>
        <p:nvSpPr>
          <p:cNvPr id="4" name="Credits list"/>
          <p:cNvSpPr txBox="1"/>
          <p:nvPr/>
        </p:nvSpPr>
        <p:spPr>
          <a:xfrm>
            <a:off x="640080" y="1828800"/>
            <a:ext cx="10881360" cy="4206240"/>
          </a:xfrm>
          <a:prstGeom prst="rect">
            <a:avLst/>
          </a:prstGeom>
          <a:noFill/>
          <a:ln/>
        </p:spPr>
        <p:txBody>
          <a:bodyPr wrap="square" lIns="0" tIns="0" rIns="0" bIns="0" rtlCol="0" anchor="t"/>
          <a:lstStyle/>
          <a:p>
            <a:pPr indent="0" marL="0">
              <a:spcAft>
                <a:spcPts val="800"/>
              </a:spcAft>
              <a:buNone/>
            </a:pPr>
            <a:r>
              <a:rPr lang="en-US" sz="1600" dirty="0">
                <a:solidFill>
                  <a:schemeClr val="bg2"/>
                </a:solidFill>
              </a:rPr>
              <a:t>Two women operating ENIAC — U.S. Army, public domain (Wikimedia Commons)</a:t>
            </a:r>
            <a:endParaRPr lang="en-US" sz="1600" dirty="0"/>
          </a:p>
          <a:p>
            <a:pPr indent="0" marL="0">
              <a:spcAft>
                <a:spcPts val="800"/>
              </a:spcAft>
              <a:buNone/>
            </a:pPr>
            <a:r>
              <a:rPr lang="en-US" sz="1600" dirty="0">
                <a:solidFill>
                  <a:schemeClr val="bg2"/>
                </a:solidFill>
              </a:rPr>
              <a:t>Margaret Hamilton with Apollo guidance code — NASA, public domain (Wikimedia Commons)</a:t>
            </a:r>
            <a:endParaRPr lang="en-US" sz="1600" dirty="0"/>
          </a:p>
          <a:p>
            <a:pPr indent="0" marL="0">
              <a:spcAft>
                <a:spcPts val="800"/>
              </a:spcAft>
              <a:buNone/>
            </a:pPr>
            <a:r>
              <a:rPr lang="en-US" sz="1600" dirty="0">
                <a:solidFill>
                  <a:schemeClr val="bg2"/>
                </a:solidFill>
              </a:rPr>
              <a:t>Grace Hopper and UNIVAC — CC BY 2.0 (Wikimedia Commons)</a:t>
            </a:r>
            <a:endParaRPr lang="en-US" sz="1600" dirty="0"/>
          </a:p>
          <a:p>
            <a:pPr indent="0" marL="0">
              <a:spcAft>
                <a:spcPts val="800"/>
              </a:spcAft>
              <a:buNone/>
            </a:pPr>
            <a:r>
              <a:rPr lang="en-US" sz="1600" dirty="0">
                <a:solidFill>
                  <a:schemeClr val="bg2"/>
                </a:solidFill>
              </a:rPr>
              <a:t>Lego Color Bricks — CC BY-SA 2.0 (Wikimedia Commons)</a:t>
            </a:r>
            <a:endParaRPr lang="en-US" sz="1600" dirty="0"/>
          </a:p>
          <a:p>
            <a:pPr indent="0" marL="0">
              <a:spcAft>
                <a:spcPts val="800"/>
              </a:spcAft>
              <a:buNone/>
            </a:pPr>
            <a:r>
              <a:rPr lang="en-US" sz="1600" dirty="0">
                <a:solidFill>
                  <a:schemeClr val="bg2"/>
                </a:solidFill>
              </a:rPr>
              <a:t>CERN Computer Center — CC BY-SA 4.0 (Wikimedia Commons)</a:t>
            </a:r>
            <a:endParaRPr lang="en-US" sz="1600" dirty="0"/>
          </a:p>
          <a:p>
            <a:pPr indent="0" marL="0">
              <a:spcAft>
                <a:spcPts val="800"/>
              </a:spcAft>
              <a:buNone/>
            </a:pPr>
            <a:r>
              <a:rPr lang="en-US" sz="1600" dirty="0">
                <a:solidFill>
                  <a:schemeClr val="bg2"/>
                </a:solidFill>
              </a:rPr>
              <a:t>Who Moved My Cheese? cover — Spencer Johnson / Putnam (via Open Library)</a:t>
            </a:r>
            <a:endParaRPr lang="en-US" sz="1600" dirty="0"/>
          </a:p>
          <a:p>
            <a:pPr indent="0" marL="0">
              <a:spcAft>
                <a:spcPts val="800"/>
              </a:spcAft>
              <a:buNone/>
            </a:pPr>
            <a:r>
              <a:rPr lang="en-US" sz="1600" dirty="0">
                <a:solidFill>
                  <a:schemeClr val="bg2"/>
                </a:solidFill>
              </a:rPr>
              <a:t>Three joys of engineering (making, knowing, mattering) — Addy Osmani, Anthropic, on X, Oct 9 2026</a:t>
            </a:r>
            <a:endParaRPr lang="en-US" sz="1600" dirty="0"/>
          </a:p>
          <a:p>
            <a:pPr indent="0" marL="0">
              <a:spcAft>
                <a:spcPts val="800"/>
              </a:spcAft>
              <a:buNone/>
            </a:pPr>
            <a:r>
              <a:rPr lang="en-US" sz="1600" dirty="0">
                <a:solidFill>
                  <a:schemeClr val="bg2"/>
                </a:solidFill>
              </a:rPr>
              <a:t>All other illustrations generated with OpenAI gpt-image-2</a:t>
            </a:r>
            <a:endParaRPr lang="en-US" sz="1600" dirty="0"/>
          </a:p>
        </p:txBody>
      </p:sp>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90"/>
                </a:solidFill>
              </a:defRPr>
            </a:lvl1pPr>
          </a:lstStyle>
          <a:p>
            <a:pPr algn="l"/>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Twin Suns">
  <a:themeElements>
    <a:clrScheme name="Twin Suns">
      <a:dk1>
        <a:srgbClr val="0B0F1C"/>
      </a:dk1>
      <a:lt1>
        <a:srgbClr val="FFFFFF"/>
      </a:lt1>
      <a:dk2>
        <a:srgbClr val="151B30"/>
      </a:dk2>
      <a:lt2>
        <a:srgbClr val="E9E4D8"/>
      </a:lt2>
      <a:accent1>
        <a:srgbClr val="F2A541"/>
      </a:accent1>
      <a:accent2>
        <a:srgbClr val="5BC0EB"/>
      </a:accent2>
      <a:accent3>
        <a:srgbClr val="E4572E"/>
      </a:accent3>
      <a:accent4>
        <a:srgbClr val="8FB8DE"/>
      </a:accent4>
      <a:accent5>
        <a:srgbClr val="9BC53D"/>
      </a:accent5>
      <a:accent6>
        <a:srgbClr val="C3A6FF"/>
      </a:accent6>
      <a:hlink>
        <a:srgbClr val="5BC0EB"/>
      </a:hlink>
      <a:folHlink>
        <a:srgbClr val="C3A6FF"/>
      </a:folHlink>
    </a:clrScheme>
    <a:fontScheme name="Twin Suns">
      <a:majorFont>
        <a:latin typeface="Century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 Am Your Father: AI, Identity, and the Joy of Engineering</dc:title>
  <dc:subject>PptxGenJS Presentation</dc:subject>
  <dc:creator>Sunny Kolattukudy</dc:creator>
  <cp:lastModifiedBy>Sunny Kolattukudy</cp:lastModifiedBy>
  <cp:revision>1</cp:revision>
  <dcterms:created xsi:type="dcterms:W3CDTF">2026-10-15T11:10:34Z</dcterms:created>
  <dcterms:modified xsi:type="dcterms:W3CDTF">2026-10-15T11:10:34Z</dcterms:modified>
</cp:coreProperties>
</file>